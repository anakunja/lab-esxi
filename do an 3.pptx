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7"/>
  </p:notesMasterIdLst>
  <p:sldIdLst>
    <p:sldId id="256" r:id="rId2"/>
    <p:sldId id="258" r:id="rId3"/>
    <p:sldId id="300" r:id="rId4"/>
    <p:sldId id="320" r:id="rId5"/>
    <p:sldId id="302" r:id="rId6"/>
    <p:sldId id="307" r:id="rId7"/>
    <p:sldId id="308" r:id="rId8"/>
    <p:sldId id="311" r:id="rId9"/>
    <p:sldId id="312" r:id="rId10"/>
    <p:sldId id="314" r:id="rId11"/>
    <p:sldId id="316" r:id="rId12"/>
    <p:sldId id="315" r:id="rId13"/>
    <p:sldId id="318" r:id="rId14"/>
    <p:sldId id="321" r:id="rId15"/>
    <p:sldId id="319" r:id="rId16"/>
  </p:sldIdLst>
  <p:sldSz cx="9144000" cy="5143500" type="screen16x9"/>
  <p:notesSz cx="6858000" cy="9144000"/>
  <p:embeddedFontLst>
    <p:embeddedFont>
      <p:font typeface="Roboto" panose="02000000000000000000" pitchFamily="2" charset="0"/>
      <p:regular r:id="rId18"/>
      <p:bold r:id="rId19"/>
      <p:italic r:id="rId20"/>
      <p:boldItalic r:id="rId21"/>
    </p:embeddedFont>
    <p:embeddedFont>
      <p:font typeface="Source Code Pro Black" panose="020B0809030403020204" pitchFamily="49" charset="0"/>
      <p:bold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56"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CA367A-DBDA-40F2-8081-0A4E2D42EB54}">
  <a:tblStyle styleId="{B5CA367A-DBDA-40F2-8081-0A4E2D42EB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065" autoAdjust="0"/>
  </p:normalViewPr>
  <p:slideViewPr>
    <p:cSldViewPr snapToGrid="0" showGuides="1">
      <p:cViewPr varScale="1">
        <p:scale>
          <a:sx n="88" d="100"/>
          <a:sy n="88" d="100"/>
        </p:scale>
        <p:origin x="576" y="66"/>
      </p:cViewPr>
      <p:guideLst>
        <p:guide orient="horz" pos="1756"/>
        <p:guide pos="28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905e27b0d8_0_1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905e27b0d8_0_1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vi-VN" sz="3200" b="1" i="0" dirty="0">
                <a:solidFill>
                  <a:srgbClr val="0D0D0D"/>
                </a:solidFill>
                <a:effectLst/>
                <a:latin typeface="Söhne"/>
              </a:rPr>
              <a:t>Hiệu suất và Sử Dụng Tài Nguyên:</a:t>
            </a:r>
            <a:r>
              <a:rPr lang="vi-VN" sz="3200" b="0" i="0" dirty="0">
                <a:solidFill>
                  <a:srgbClr val="0D0D0D"/>
                </a:solidFill>
                <a:effectLst/>
                <a:latin typeface="Söhne"/>
              </a:rPr>
              <a:t> Các máy chủ vật lý thường không tận dụng hết tài nguyên của chúng, dẫn đến lãng phí.</a:t>
            </a:r>
          </a:p>
          <a:p>
            <a:pPr algn="l">
              <a:buFont typeface="Arial" panose="020B0604020202020204" pitchFamily="34" charset="0"/>
              <a:buChar char="•"/>
            </a:pPr>
            <a:r>
              <a:rPr lang="vi-VN" sz="3200" b="1" i="0" dirty="0">
                <a:solidFill>
                  <a:srgbClr val="0D0D0D"/>
                </a:solidFill>
                <a:effectLst/>
                <a:latin typeface="Söhne"/>
              </a:rPr>
              <a:t>Khả Năng Dự Phòng:</a:t>
            </a:r>
            <a:r>
              <a:rPr lang="vi-VN" sz="3200" b="0" i="0" dirty="0">
                <a:solidFill>
                  <a:srgbClr val="0D0D0D"/>
                </a:solidFill>
                <a:effectLst/>
                <a:latin typeface="Söhne"/>
              </a:rPr>
              <a:t> Nếu một máy chủ gặp sự cố, việc khôi phục lại dịch vụ sẽ mất nhiều thời gian, gây gián đoạn hoạt động kinh doanh.</a:t>
            </a:r>
          </a:p>
          <a:p>
            <a:pPr algn="l">
              <a:buFont typeface="Arial" panose="020B0604020202020204" pitchFamily="34" charset="0"/>
              <a:buChar char="•"/>
            </a:pPr>
            <a:r>
              <a:rPr lang="vi-VN" sz="3200" b="1" i="0" dirty="0">
                <a:solidFill>
                  <a:srgbClr val="0D0D0D"/>
                </a:solidFill>
                <a:effectLst/>
                <a:latin typeface="Söhne"/>
              </a:rPr>
              <a:t>Quản Lý và Bảo Trì:</a:t>
            </a:r>
            <a:r>
              <a:rPr lang="vi-VN" sz="3200" b="0" i="0" dirty="0">
                <a:solidFill>
                  <a:srgbClr val="0D0D0D"/>
                </a:solidFill>
                <a:effectLst/>
                <a:latin typeface="Söhne"/>
              </a:rPr>
              <a:t> Việc quản lý và bảo trì hệ thống máy chủ vật lý đòi hỏi nhiều công sức và thời gian.</a:t>
            </a:r>
          </a:p>
          <a:p>
            <a:pPr algn="l">
              <a:buFont typeface="Arial" panose="020B0604020202020204" pitchFamily="34" charset="0"/>
              <a:buChar char="•"/>
            </a:pPr>
            <a:r>
              <a:rPr lang="vi-VN" sz="3200" b="1" i="0" dirty="0">
                <a:solidFill>
                  <a:srgbClr val="0D0D0D"/>
                </a:solidFill>
                <a:effectLst/>
                <a:latin typeface="Söhne"/>
              </a:rPr>
              <a:t>Khả Năng Mở Rộng:</a:t>
            </a:r>
            <a:r>
              <a:rPr lang="vi-VN" sz="3200" b="0" i="0" dirty="0">
                <a:solidFill>
                  <a:srgbClr val="0D0D0D"/>
                </a:solidFill>
                <a:effectLst/>
                <a:latin typeface="Söhne"/>
              </a:rPr>
              <a:t> Hệ thống hiện tại khó khăn trong việc mở rộng khi nhu cầu tăng cao.</a:t>
            </a:r>
            <a:r>
              <a:rPr lang="en-US" sz="3200" b="0" i="0">
                <a:solidFill>
                  <a:srgbClr val="0D0D0D"/>
                </a:solidFill>
                <a:effectLst/>
                <a:latin typeface="Söhne"/>
              </a:rPr>
              <a:t>  </a:t>
            </a:r>
            <a:endParaRPr lang="en-US" sz="3200" b="0" i="0" dirty="0">
              <a:solidFill>
                <a:srgbClr val="0D0D0D"/>
              </a:solidFill>
              <a:effectLst/>
              <a:latin typeface="Söhn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Font typeface="Arial" panose="020B0604020202020204" pitchFamily="34" charset="0"/>
              <a:buNone/>
            </a:pPr>
            <a:r>
              <a:rPr lang="en-US" b="1" i="0" dirty="0" err="1">
                <a:solidFill>
                  <a:srgbClr val="0D0D0D"/>
                </a:solidFill>
                <a:effectLst/>
                <a:latin typeface="Söhne"/>
              </a:rPr>
              <a:t>Yêu</a:t>
            </a:r>
            <a:r>
              <a:rPr lang="en-US" b="1" i="0" dirty="0">
                <a:solidFill>
                  <a:srgbClr val="0D0D0D"/>
                </a:solidFill>
                <a:effectLst/>
                <a:latin typeface="Söhne"/>
              </a:rPr>
              <a:t> </a:t>
            </a:r>
            <a:r>
              <a:rPr lang="en-US" b="1" i="0" dirty="0" err="1">
                <a:solidFill>
                  <a:srgbClr val="0D0D0D"/>
                </a:solidFill>
                <a:effectLst/>
                <a:latin typeface="Söhne"/>
              </a:rPr>
              <a:t>cầu</a:t>
            </a:r>
            <a:r>
              <a:rPr lang="en-US" b="1" i="0" dirty="0">
                <a:solidFill>
                  <a:srgbClr val="0D0D0D"/>
                </a:solidFill>
                <a:effectLst/>
                <a:latin typeface="Söhne"/>
              </a:rPr>
              <a:t> </a:t>
            </a:r>
            <a:r>
              <a:rPr lang="en-US" b="1" i="0" dirty="0" err="1">
                <a:solidFill>
                  <a:srgbClr val="0D0D0D"/>
                </a:solidFill>
                <a:effectLst/>
                <a:latin typeface="Söhne"/>
              </a:rPr>
              <a:t>để</a:t>
            </a:r>
            <a:r>
              <a:rPr lang="en-US" b="1" i="0" dirty="0">
                <a:solidFill>
                  <a:srgbClr val="0D0D0D"/>
                </a:solidFill>
                <a:effectLst/>
                <a:latin typeface="Söhne"/>
              </a:rPr>
              <a:t> </a:t>
            </a:r>
            <a:r>
              <a:rPr lang="en-US" b="1" i="0" dirty="0" err="1">
                <a:solidFill>
                  <a:srgbClr val="0D0D0D"/>
                </a:solidFill>
                <a:effectLst/>
                <a:latin typeface="Söhne"/>
              </a:rPr>
              <a:t>để</a:t>
            </a:r>
            <a:r>
              <a:rPr lang="en-US" b="1" i="0" dirty="0">
                <a:solidFill>
                  <a:srgbClr val="0D0D0D"/>
                </a:solidFill>
                <a:effectLst/>
                <a:latin typeface="Söhne"/>
              </a:rPr>
              <a:t> </a:t>
            </a:r>
            <a:r>
              <a:rPr lang="en-US" b="1" i="0" dirty="0" err="1">
                <a:solidFill>
                  <a:srgbClr val="0D0D0D"/>
                </a:solidFill>
                <a:effectLst/>
                <a:latin typeface="Söhne"/>
              </a:rPr>
              <a:t>giải</a:t>
            </a:r>
            <a:r>
              <a:rPr lang="en-US" b="1" i="0" dirty="0">
                <a:solidFill>
                  <a:srgbClr val="0D0D0D"/>
                </a:solidFill>
                <a:effectLst/>
                <a:latin typeface="Söhne"/>
              </a:rPr>
              <a:t> </a:t>
            </a:r>
            <a:r>
              <a:rPr lang="en-US" b="1" i="0" dirty="0" err="1">
                <a:solidFill>
                  <a:srgbClr val="0D0D0D"/>
                </a:solidFill>
                <a:effectLst/>
                <a:latin typeface="Söhne"/>
              </a:rPr>
              <a:t>quyết</a:t>
            </a:r>
            <a:r>
              <a:rPr lang="en-US" b="1" i="0" dirty="0">
                <a:solidFill>
                  <a:srgbClr val="0D0D0D"/>
                </a:solidFill>
                <a:effectLst/>
                <a:latin typeface="Söhne"/>
              </a:rPr>
              <a:t> </a:t>
            </a:r>
            <a:r>
              <a:rPr lang="en-US" b="1" i="0" dirty="0" err="1">
                <a:solidFill>
                  <a:srgbClr val="0D0D0D"/>
                </a:solidFill>
                <a:effectLst/>
                <a:latin typeface="Söhne"/>
              </a:rPr>
              <a:t>thực</a:t>
            </a:r>
            <a:r>
              <a:rPr lang="en-US" b="1" i="0" dirty="0">
                <a:solidFill>
                  <a:srgbClr val="0D0D0D"/>
                </a:solidFill>
                <a:effectLst/>
                <a:latin typeface="Söhne"/>
              </a:rPr>
              <a:t> </a:t>
            </a:r>
            <a:r>
              <a:rPr lang="en-US" b="1" i="0" dirty="0" err="1">
                <a:solidFill>
                  <a:srgbClr val="0D0D0D"/>
                </a:solidFill>
                <a:effectLst/>
                <a:latin typeface="Söhne"/>
              </a:rPr>
              <a:t>trạng</a:t>
            </a:r>
            <a:r>
              <a:rPr lang="en-US" b="1" i="0" dirty="0">
                <a:solidFill>
                  <a:srgbClr val="0D0D0D"/>
                </a:solidFill>
                <a:effectLst/>
                <a:latin typeface="Söhne"/>
              </a:rPr>
              <a:t> </a:t>
            </a:r>
            <a:r>
              <a:rPr lang="en-US" b="1" i="0" dirty="0" err="1">
                <a:solidFill>
                  <a:srgbClr val="0D0D0D"/>
                </a:solidFill>
                <a:effectLst/>
                <a:latin typeface="Söhne"/>
              </a:rPr>
              <a:t>của</a:t>
            </a:r>
            <a:r>
              <a:rPr lang="en-US" b="1" i="0" dirty="0">
                <a:solidFill>
                  <a:srgbClr val="0D0D0D"/>
                </a:solidFill>
                <a:effectLst/>
                <a:latin typeface="Söhne"/>
              </a:rPr>
              <a:t> </a:t>
            </a:r>
            <a:r>
              <a:rPr lang="en-US" b="1" i="0" dirty="0" err="1">
                <a:solidFill>
                  <a:srgbClr val="0D0D0D"/>
                </a:solidFill>
                <a:effectLst/>
                <a:latin typeface="Söhne"/>
              </a:rPr>
              <a:t>hạ</a:t>
            </a:r>
            <a:r>
              <a:rPr lang="en-US" b="1" i="0" dirty="0">
                <a:solidFill>
                  <a:srgbClr val="0D0D0D"/>
                </a:solidFill>
                <a:effectLst/>
                <a:latin typeface="Söhne"/>
              </a:rPr>
              <a:t> </a:t>
            </a:r>
            <a:r>
              <a:rPr lang="en-US" b="1" i="0" dirty="0" err="1">
                <a:solidFill>
                  <a:srgbClr val="0D0D0D"/>
                </a:solidFill>
                <a:effectLst/>
                <a:latin typeface="Söhne"/>
              </a:rPr>
              <a:t>tầng</a:t>
            </a:r>
            <a:r>
              <a:rPr lang="en-US" b="1" i="0" dirty="0">
                <a:solidFill>
                  <a:srgbClr val="0D0D0D"/>
                </a:solidFill>
                <a:effectLst/>
                <a:latin typeface="Söhne"/>
              </a:rPr>
              <a:t> </a:t>
            </a:r>
            <a:r>
              <a:rPr lang="en-US" b="1" i="0" dirty="0" err="1">
                <a:solidFill>
                  <a:srgbClr val="0D0D0D"/>
                </a:solidFill>
                <a:effectLst/>
                <a:latin typeface="Söhne"/>
              </a:rPr>
              <a:t>vật</a:t>
            </a:r>
            <a:r>
              <a:rPr lang="en-US" b="1" i="0" dirty="0">
                <a:solidFill>
                  <a:srgbClr val="0D0D0D"/>
                </a:solidFill>
                <a:effectLst/>
                <a:latin typeface="Söhne"/>
              </a:rPr>
              <a:t> </a:t>
            </a:r>
            <a:r>
              <a:rPr lang="en-US" b="1" i="0" dirty="0" err="1">
                <a:solidFill>
                  <a:srgbClr val="0D0D0D"/>
                </a:solidFill>
                <a:effectLst/>
                <a:latin typeface="Söhne"/>
              </a:rPr>
              <a:t>lý</a:t>
            </a:r>
            <a:endParaRPr lang="en-US" b="1" i="0" dirty="0">
              <a:solidFill>
                <a:srgbClr val="0D0D0D"/>
              </a:solidFill>
              <a:effectLst/>
              <a:latin typeface="Söhne"/>
            </a:endParaRPr>
          </a:p>
          <a:p>
            <a:pPr algn="l">
              <a:buFont typeface="Arial" panose="020B0604020202020204" pitchFamily="34" charset="0"/>
              <a:buChar char="•"/>
            </a:pPr>
            <a:r>
              <a:rPr lang="vi-VN" b="1" i="0" dirty="0">
                <a:solidFill>
                  <a:srgbClr val="0D0D0D"/>
                </a:solidFill>
                <a:effectLst/>
                <a:latin typeface="Söhne"/>
              </a:rPr>
              <a:t>Tối Ưu Hóa Tài Nguyên:</a:t>
            </a:r>
            <a:r>
              <a:rPr lang="vi-VN" b="0" i="0" dirty="0">
                <a:solidFill>
                  <a:srgbClr val="0D0D0D"/>
                </a:solidFill>
                <a:effectLst/>
                <a:latin typeface="Söhne"/>
              </a:rPr>
              <a:t> Tận dụng tối đa tài nguyên máy chủ.</a:t>
            </a:r>
          </a:p>
          <a:p>
            <a:pPr algn="l">
              <a:buFont typeface="Arial" panose="020B0604020202020204" pitchFamily="34" charset="0"/>
              <a:buChar char="•"/>
            </a:pPr>
            <a:r>
              <a:rPr lang="vi-VN" b="1" i="0" dirty="0">
                <a:solidFill>
                  <a:srgbClr val="0D0D0D"/>
                </a:solidFill>
                <a:effectLst/>
                <a:latin typeface="Söhne"/>
              </a:rPr>
              <a:t>Tăng Cường Khả Năng Dự Phòng:</a:t>
            </a:r>
            <a:r>
              <a:rPr lang="vi-VN" b="0" i="0" dirty="0">
                <a:solidFill>
                  <a:srgbClr val="0D0D0D"/>
                </a:solidFill>
                <a:effectLst/>
                <a:latin typeface="Söhne"/>
              </a:rPr>
              <a:t> Đảm bảo hệ thống vẫn hoạt động khi có sự cố phần cứng.</a:t>
            </a:r>
          </a:p>
          <a:p>
            <a:pPr algn="l">
              <a:buFont typeface="Arial" panose="020B0604020202020204" pitchFamily="34" charset="0"/>
              <a:buChar char="•"/>
            </a:pPr>
            <a:r>
              <a:rPr lang="vi-VN" b="1" i="0" dirty="0">
                <a:solidFill>
                  <a:srgbClr val="0D0D0D"/>
                </a:solidFill>
                <a:effectLst/>
                <a:latin typeface="Söhne"/>
              </a:rPr>
              <a:t>Quản Lý Hiệu Quả:</a:t>
            </a:r>
            <a:r>
              <a:rPr lang="vi-VN" b="0" i="0" dirty="0">
                <a:solidFill>
                  <a:srgbClr val="0D0D0D"/>
                </a:solidFill>
                <a:effectLst/>
                <a:latin typeface="Söhne"/>
              </a:rPr>
              <a:t> </a:t>
            </a:r>
            <a:r>
              <a:rPr lang="en-US" b="0" i="0" dirty="0">
                <a:solidFill>
                  <a:srgbClr val="0D0D0D"/>
                </a:solidFill>
                <a:effectLst/>
                <a:latin typeface="Söhne"/>
              </a:rPr>
              <a:t> </a:t>
            </a:r>
            <a:r>
              <a:rPr lang="en-US" b="0" i="0" dirty="0" err="1">
                <a:solidFill>
                  <a:srgbClr val="0D0D0D"/>
                </a:solidFill>
                <a:effectLst/>
                <a:latin typeface="Söhne"/>
              </a:rPr>
              <a:t>Cần</a:t>
            </a:r>
            <a:r>
              <a:rPr lang="en-US" b="0" i="0" dirty="0">
                <a:solidFill>
                  <a:srgbClr val="0D0D0D"/>
                </a:solidFill>
                <a:effectLst/>
                <a:latin typeface="Söhne"/>
              </a:rPr>
              <a:t> </a:t>
            </a:r>
            <a:r>
              <a:rPr lang="en-US" b="0" i="0" dirty="0" err="1">
                <a:solidFill>
                  <a:srgbClr val="0D0D0D"/>
                </a:solidFill>
                <a:effectLst/>
                <a:latin typeface="Söhne"/>
              </a:rPr>
              <a:t>một</a:t>
            </a:r>
            <a:r>
              <a:rPr lang="en-US" b="0" i="0" dirty="0">
                <a:solidFill>
                  <a:srgbClr val="0D0D0D"/>
                </a:solidFill>
                <a:effectLst/>
                <a:latin typeface="Söhne"/>
              </a:rPr>
              <a:t> </a:t>
            </a:r>
            <a:r>
              <a:rPr lang="en-US" b="0" i="0" dirty="0" err="1">
                <a:solidFill>
                  <a:srgbClr val="0D0D0D"/>
                </a:solidFill>
                <a:effectLst/>
                <a:latin typeface="Söhne"/>
              </a:rPr>
              <a:t>hệ</a:t>
            </a:r>
            <a:r>
              <a:rPr lang="en-US" b="0" i="0" dirty="0">
                <a:solidFill>
                  <a:srgbClr val="0D0D0D"/>
                </a:solidFill>
                <a:effectLst/>
                <a:latin typeface="Söhne"/>
              </a:rPr>
              <a:t> </a:t>
            </a:r>
            <a:r>
              <a:rPr lang="en-US" b="0" i="0" dirty="0" err="1">
                <a:solidFill>
                  <a:srgbClr val="0D0D0D"/>
                </a:solidFill>
                <a:effectLst/>
                <a:latin typeface="Söhne"/>
              </a:rPr>
              <a:t>thống</a:t>
            </a:r>
            <a:r>
              <a:rPr lang="en-US" b="0" i="0" dirty="0">
                <a:solidFill>
                  <a:srgbClr val="0D0D0D"/>
                </a:solidFill>
                <a:effectLst/>
                <a:latin typeface="Söhne"/>
              </a:rPr>
              <a:t> </a:t>
            </a:r>
            <a:r>
              <a:rPr lang="vi-VN" b="0" i="0" dirty="0">
                <a:solidFill>
                  <a:srgbClr val="0D0D0D"/>
                </a:solidFill>
                <a:effectLst/>
                <a:latin typeface="Söhne"/>
              </a:rPr>
              <a:t>Dễ dàng quản lý và bảo trì </a:t>
            </a:r>
            <a:r>
              <a:rPr lang="en-US" b="0" i="0" dirty="0" err="1">
                <a:solidFill>
                  <a:srgbClr val="0D0D0D"/>
                </a:solidFill>
                <a:effectLst/>
                <a:latin typeface="Söhne"/>
              </a:rPr>
              <a:t>các</a:t>
            </a:r>
            <a:r>
              <a:rPr lang="en-US" b="0" i="0" dirty="0">
                <a:solidFill>
                  <a:srgbClr val="0D0D0D"/>
                </a:solidFill>
                <a:effectLst/>
                <a:latin typeface="Söhne"/>
              </a:rPr>
              <a:t> server</a:t>
            </a:r>
            <a:r>
              <a:rPr lang="vi-VN" b="0" i="0" dirty="0">
                <a:solidFill>
                  <a:srgbClr val="0D0D0D"/>
                </a:solidFill>
                <a:effectLst/>
                <a:latin typeface="Söhne"/>
              </a:rPr>
              <a:t>.</a:t>
            </a:r>
          </a:p>
          <a:p>
            <a:pPr algn="l">
              <a:buFont typeface="Arial" panose="020B0604020202020204" pitchFamily="34" charset="0"/>
              <a:buChar char="•"/>
            </a:pPr>
            <a:r>
              <a:rPr lang="vi-VN" b="1" i="0" dirty="0">
                <a:solidFill>
                  <a:srgbClr val="0D0D0D"/>
                </a:solidFill>
                <a:effectLst/>
                <a:latin typeface="Söhne"/>
              </a:rPr>
              <a:t>Khả Năng Mở Rộng:</a:t>
            </a:r>
            <a:r>
              <a:rPr lang="vi-VN" b="0" i="0" dirty="0">
                <a:solidFill>
                  <a:srgbClr val="0D0D0D"/>
                </a:solidFill>
                <a:effectLst/>
                <a:latin typeface="Söhne"/>
              </a:rPr>
              <a:t> Dễ dàng mở rộng khi cần thiết.</a:t>
            </a:r>
            <a:endParaRPr lang="en-US" b="0" i="0" dirty="0">
              <a:solidFill>
                <a:srgbClr val="0D0D0D"/>
              </a:solidFill>
              <a:effectLst/>
              <a:latin typeface="Söhne"/>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US" sz="1800" b="1" dirty="0" err="1">
                <a:effectLst/>
                <a:latin typeface="Times New Roman" panose="02020603050405020304" pitchFamily="18" charset="0"/>
                <a:ea typeface="Times New Roman" panose="02020603050405020304" pitchFamily="18" charset="0"/>
              </a:rPr>
              <a:t>Bảo</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Mật</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và</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Khôi</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Phục</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Dữ</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Liệu</a:t>
            </a:r>
            <a:r>
              <a:rPr lang="en-US" sz="1800" b="1"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mật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quá</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truyền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phục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a:t>
            </a:r>
            <a:endParaRPr lang="en-US" sz="1800" dirty="0">
              <a:effectLst/>
              <a:latin typeface="Times New Roman" panose="02020603050405020304" pitchFamily="18" charset="0"/>
              <a:ea typeface="Times New Roman" panose="02020603050405020304" pitchFamily="18" charset="0"/>
            </a:endParaRPr>
          </a:p>
          <a:p>
            <a:pPr algn="l">
              <a:buFont typeface="Arial" panose="020B0604020202020204" pitchFamily="34" charset="0"/>
              <a:buChar char="•"/>
            </a:pPr>
            <a:endParaRPr lang="vi-VN" b="0" i="0" dirty="0">
              <a:solidFill>
                <a:srgbClr val="0D0D0D"/>
              </a:solidFill>
              <a:effectLst/>
              <a:latin typeface="Söhne"/>
            </a:endParaRP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075459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mj-lt"/>
              <a:buAutoNum type="arabicPeriod"/>
            </a:pPr>
            <a:r>
              <a:rPr lang="vi-VN" b="1" i="0" dirty="0">
                <a:solidFill>
                  <a:srgbClr val="0D0D0D"/>
                </a:solidFill>
                <a:effectLst/>
                <a:latin typeface="Söhne"/>
              </a:rPr>
              <a:t>Tăng Hiệu Suất và Sử Dụng Tài Nguyên:</a:t>
            </a:r>
            <a:endParaRPr lang="vi-VN" b="0" i="0" dirty="0">
              <a:solidFill>
                <a:srgbClr val="0D0D0D"/>
              </a:solidFill>
              <a:effectLst/>
              <a:latin typeface="Söhne"/>
            </a:endParaRPr>
          </a:p>
          <a:p>
            <a:pPr marL="457200" lvl="1" indent="0" algn="l">
              <a:buFont typeface="+mj-lt"/>
              <a:buNone/>
            </a:pPr>
            <a:r>
              <a:rPr lang="vi-VN" b="0" i="0" dirty="0">
                <a:solidFill>
                  <a:srgbClr val="0D0D0D"/>
                </a:solidFill>
                <a:effectLst/>
                <a:latin typeface="Söhne"/>
              </a:rPr>
              <a:t>Tối ưu hóa việc sử dụng tài nguyên phần cứng.</a:t>
            </a:r>
          </a:p>
          <a:p>
            <a:pPr marL="457200" lvl="1" indent="0" algn="l">
              <a:buFont typeface="+mj-lt"/>
              <a:buNone/>
            </a:pPr>
            <a:r>
              <a:rPr lang="vi-VN" b="0" i="0" dirty="0">
                <a:solidFill>
                  <a:srgbClr val="0D0D0D"/>
                </a:solidFill>
                <a:effectLst/>
                <a:latin typeface="Söhne"/>
              </a:rPr>
              <a:t>Đảm bảo hiệu suất cao và giảm thiểu lãng phí tài nguyên.</a:t>
            </a:r>
          </a:p>
          <a:p>
            <a:pPr algn="l">
              <a:buFont typeface="+mj-lt"/>
              <a:buAutoNum type="arabicPeriod"/>
            </a:pPr>
            <a:r>
              <a:rPr lang="vi-VN" b="1" i="0" dirty="0">
                <a:solidFill>
                  <a:srgbClr val="0D0D0D"/>
                </a:solidFill>
                <a:effectLst/>
                <a:latin typeface="Söhne"/>
              </a:rPr>
              <a:t>Đảm Bảo Tính Sẵn Sàng Cao:</a:t>
            </a:r>
            <a:endParaRPr lang="vi-VN" b="0" i="0" dirty="0">
              <a:solidFill>
                <a:srgbClr val="0D0D0D"/>
              </a:solidFill>
              <a:effectLst/>
              <a:latin typeface="Söhne"/>
            </a:endParaRPr>
          </a:p>
          <a:p>
            <a:pPr marL="457200" lvl="1" indent="0" algn="l">
              <a:buFont typeface="+mj-lt"/>
              <a:buNone/>
            </a:pPr>
            <a:r>
              <a:rPr lang="vi-VN" b="0" i="0" dirty="0">
                <a:solidFill>
                  <a:srgbClr val="0D0D0D"/>
                </a:solidFill>
                <a:effectLst/>
                <a:latin typeface="Söhne"/>
              </a:rPr>
              <a:t>Giảm thiểu thời gian gián đoạn dịch vụ.</a:t>
            </a:r>
          </a:p>
          <a:p>
            <a:pPr marL="457200" lvl="1" indent="0" algn="l">
              <a:buFont typeface="+mj-lt"/>
              <a:buNone/>
            </a:pPr>
            <a:r>
              <a:rPr lang="vi-VN" b="0" i="0" dirty="0">
                <a:solidFill>
                  <a:srgbClr val="0D0D0D"/>
                </a:solidFill>
                <a:effectLst/>
                <a:latin typeface="Söhne"/>
              </a:rPr>
              <a:t>Tăng cường khả năng dự phòng và khôi phục tự động.</a:t>
            </a:r>
          </a:p>
          <a:p>
            <a:pPr algn="l">
              <a:buFont typeface="+mj-lt"/>
              <a:buAutoNum type="arabicPeriod"/>
            </a:pPr>
            <a:r>
              <a:rPr lang="vi-VN" b="1" i="0" dirty="0">
                <a:solidFill>
                  <a:srgbClr val="0D0D0D"/>
                </a:solidFill>
                <a:effectLst/>
                <a:latin typeface="Söhne"/>
              </a:rPr>
              <a:t>Cải Thiện Quản Lý và Bảo Trì:</a:t>
            </a:r>
            <a:endParaRPr lang="vi-VN" b="0" i="0" dirty="0">
              <a:solidFill>
                <a:srgbClr val="0D0D0D"/>
              </a:solidFill>
              <a:effectLst/>
              <a:latin typeface="Söhne"/>
            </a:endParaRPr>
          </a:p>
          <a:p>
            <a:pPr marL="457200" lvl="1" indent="0" algn="l">
              <a:buFont typeface="+mj-lt"/>
              <a:buNone/>
            </a:pPr>
            <a:r>
              <a:rPr lang="vi-VN" b="0" i="0" dirty="0">
                <a:solidFill>
                  <a:srgbClr val="0D0D0D"/>
                </a:solidFill>
                <a:effectLst/>
                <a:latin typeface="Söhne"/>
              </a:rPr>
              <a:t>Đơn giản hóa việc quản lý và bảo trì hệ thống.</a:t>
            </a:r>
          </a:p>
          <a:p>
            <a:pPr marL="457200" lvl="1" indent="0" algn="l">
              <a:buFont typeface="+mj-lt"/>
              <a:buNone/>
            </a:pPr>
            <a:r>
              <a:rPr lang="vi-VN" b="0" i="0" dirty="0">
                <a:solidFill>
                  <a:srgbClr val="0D0D0D"/>
                </a:solidFill>
                <a:effectLst/>
                <a:latin typeface="Söhne"/>
              </a:rPr>
              <a:t>Cung cấp các công cụ quản lý tập trung và tự động hóa.</a:t>
            </a:r>
          </a:p>
          <a:p>
            <a:pPr algn="l">
              <a:buFont typeface="+mj-lt"/>
              <a:buAutoNum type="arabicPeriod"/>
            </a:pPr>
            <a:r>
              <a:rPr lang="vi-VN" b="1" i="0" dirty="0">
                <a:solidFill>
                  <a:srgbClr val="0D0D0D"/>
                </a:solidFill>
                <a:effectLst/>
                <a:latin typeface="Söhne"/>
              </a:rPr>
              <a:t>Tăng Cường Khả Năng Mở Rộng:</a:t>
            </a:r>
            <a:endParaRPr lang="vi-VN" b="0" i="0" dirty="0">
              <a:solidFill>
                <a:srgbClr val="0D0D0D"/>
              </a:solidFill>
              <a:effectLst/>
              <a:latin typeface="Söhne"/>
            </a:endParaRPr>
          </a:p>
          <a:p>
            <a:pPr marL="457200" lvl="1" indent="0" algn="l">
              <a:buFont typeface="+mj-lt"/>
              <a:buNone/>
            </a:pPr>
            <a:r>
              <a:rPr lang="vi-VN" b="0" i="0" dirty="0">
                <a:solidFill>
                  <a:srgbClr val="0D0D0D"/>
                </a:solidFill>
                <a:effectLst/>
                <a:latin typeface="Söhne"/>
              </a:rPr>
              <a:t>Dễ dàng mở rộng hệ thống khi cần thiết.</a:t>
            </a:r>
          </a:p>
          <a:p>
            <a:pPr marL="457200" lvl="1" indent="0" algn="l">
              <a:buFont typeface="+mj-lt"/>
              <a:buNone/>
            </a:pPr>
            <a:r>
              <a:rPr lang="vi-VN" b="0" i="0" dirty="0">
                <a:solidFill>
                  <a:srgbClr val="0D0D0D"/>
                </a:solidFill>
                <a:effectLst/>
                <a:latin typeface="Söhne"/>
              </a:rPr>
              <a:t>Đảm bảo hệ thống có thể đáp ứng nhanh chóng nhu cầu kinh doanh.</a:t>
            </a:r>
          </a:p>
          <a:p>
            <a:pPr algn="l">
              <a:buFont typeface="+mj-lt"/>
              <a:buAutoNum type="arabicPeriod"/>
            </a:pPr>
            <a:r>
              <a:rPr lang="vi-VN" b="1" i="0" dirty="0">
                <a:solidFill>
                  <a:srgbClr val="0D0D0D"/>
                </a:solidFill>
                <a:effectLst/>
                <a:latin typeface="Söhne"/>
              </a:rPr>
              <a:t>Bảo Mật và Khôi Phục Dữ Liệu:</a:t>
            </a:r>
            <a:endParaRPr lang="vi-VN" b="0" i="0" dirty="0">
              <a:solidFill>
                <a:srgbClr val="0D0D0D"/>
              </a:solidFill>
              <a:effectLst/>
              <a:latin typeface="Söhne"/>
            </a:endParaRPr>
          </a:p>
          <a:p>
            <a:pPr marL="457200" lvl="1" indent="0" algn="l">
              <a:buFont typeface="+mj-lt"/>
              <a:buNone/>
            </a:pPr>
            <a:r>
              <a:rPr lang="vi-VN" b="0" i="0" dirty="0">
                <a:solidFill>
                  <a:srgbClr val="0D0D0D"/>
                </a:solidFill>
                <a:effectLst/>
                <a:latin typeface="Söhne"/>
              </a:rPr>
              <a:t>Đảm bảo an toàn dữ liệu và khả năng khôi phục nhanh chóng.</a:t>
            </a:r>
          </a:p>
          <a:p>
            <a:pPr marL="0" lvl="0" indent="0" algn="l" rtl="0">
              <a:spcBef>
                <a:spcPts val="0"/>
              </a:spcBef>
              <a:spcAft>
                <a:spcPts val="0"/>
              </a:spcAft>
              <a:buNone/>
            </a:pPr>
            <a:endParaRPr lang="en-US" dirty="0"/>
          </a:p>
          <a:p>
            <a:pPr marL="342900" lvl="0" indent="-342900" algn="just">
              <a:lnSpc>
                <a:spcPct val="130000"/>
              </a:lnSpc>
              <a:spcBef>
                <a:spcPts val="600"/>
              </a:spcBef>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Triển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Khai</a:t>
            </a:r>
            <a:r>
              <a:rPr lang="en-US" sz="1800" b="1" dirty="0">
                <a:effectLst/>
                <a:latin typeface="Times New Roman" panose="02020603050405020304" pitchFamily="18" charset="0"/>
                <a:ea typeface="Times New Roman" panose="02020603050405020304" pitchFamily="18" charset="0"/>
              </a:rPr>
              <a:t> vSphere </a:t>
            </a:r>
            <a:r>
              <a:rPr lang="en-US" sz="1800" b="1" dirty="0" err="1">
                <a:effectLst/>
                <a:latin typeface="Times New Roman" panose="02020603050405020304" pitchFamily="18" charset="0"/>
                <a:ea typeface="Times New Roman" panose="02020603050405020304" pitchFamily="18" charset="0"/>
              </a:rPr>
              <a:t>và</a:t>
            </a:r>
            <a:r>
              <a:rPr lang="en-US" sz="1800" b="1" dirty="0">
                <a:effectLst/>
                <a:latin typeface="Times New Roman" panose="02020603050405020304" pitchFamily="18" charset="0"/>
                <a:ea typeface="Times New Roman" panose="02020603050405020304" pitchFamily="18" charset="0"/>
              </a:rPr>
              <a:t> vCenter Server:</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Cài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đặt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vSphere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vCenter Server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a:t>
            </a:r>
          </a:p>
          <a:p>
            <a:pPr marL="342900" lvl="0" indent="-342900" algn="just">
              <a:lnSpc>
                <a:spcPct val="130000"/>
              </a:lnSpc>
              <a:spcBef>
                <a:spcPts val="600"/>
              </a:spcBef>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Sử</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Dụng</a:t>
            </a:r>
            <a:r>
              <a:rPr lang="en-US" sz="1800" b="1" dirty="0">
                <a:effectLst/>
                <a:latin typeface="Times New Roman" panose="02020603050405020304" pitchFamily="18" charset="0"/>
                <a:ea typeface="Times New Roman" panose="02020603050405020304" pitchFamily="18" charset="0"/>
              </a:rPr>
              <a:t> vSphere HA:</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Cấu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vSphere HA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khởi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cứng</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DRS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cân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tối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hóa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việc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tài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nguyên</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Cấu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Fault Tolerance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trọng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tính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tục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dịch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vụ</a:t>
            </a:r>
            <a:r>
              <a:rPr lang="en-US" sz="1800" dirty="0">
                <a:effectLst/>
                <a:latin typeface="Times New Roman" panose="02020603050405020304" pitchFamily="18" charset="0"/>
                <a:ea typeface="Times New Roman" panose="02020603050405020304" pitchFamily="18" charset="0"/>
              </a:rPr>
              <a:t>.</a:t>
            </a:r>
          </a:p>
          <a:p>
            <a:pPr marL="342900" lvl="0" indent="-342900" algn="just">
              <a:lnSpc>
                <a:spcPct val="130000"/>
              </a:lnSpc>
              <a:spcBef>
                <a:spcPts val="600"/>
              </a:spcBef>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Triển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Khai</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vSAN</a:t>
            </a:r>
            <a:r>
              <a:rPr lang="en-US" sz="1800" b="1"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vSAN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cao</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năng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mở</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hoạt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chỉnh</a:t>
            </a:r>
            <a:r>
              <a:rPr lang="en-US" sz="1800" dirty="0">
                <a:effectLst/>
                <a:latin typeface="Times New Roman" panose="02020603050405020304" pitchFamily="18" charset="0"/>
                <a:ea typeface="Times New Roman" panose="02020603050405020304" pitchFamily="18" charset="0"/>
              </a:rPr>
              <a:t> dung </a:t>
            </a:r>
            <a:r>
              <a:rPr lang="en-US" sz="1800" dirty="0" err="1">
                <a:effectLst/>
                <a:latin typeface="Times New Roman" panose="02020603050405020304" pitchFamily="18" charset="0"/>
                <a:ea typeface="Times New Roman" panose="02020603050405020304" pitchFamily="18" charset="0"/>
              </a:rPr>
              <a:t>lượng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a:t>
            </a:r>
          </a:p>
          <a:p>
            <a:pPr marL="342900" lvl="0" indent="-342900" algn="just">
              <a:lnSpc>
                <a:spcPct val="130000"/>
              </a:lnSpc>
              <a:spcBef>
                <a:spcPts val="600"/>
              </a:spcBef>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Sao </a:t>
            </a:r>
            <a:r>
              <a:rPr lang="en-US" sz="1800" b="1" dirty="0" err="1">
                <a:effectLst/>
                <a:latin typeface="Times New Roman" panose="02020603050405020304" pitchFamily="18" charset="0"/>
                <a:ea typeface="Times New Roman" panose="02020603050405020304" pitchFamily="18" charset="0"/>
              </a:rPr>
              <a:t>Lưu</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và</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Khôi</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Phục</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Dữ</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Liệu</a:t>
            </a:r>
            <a:r>
              <a:rPr lang="en-US" sz="1800" b="1"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Triển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khai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như</a:t>
            </a:r>
            <a:r>
              <a:rPr lang="en-US" sz="1800" dirty="0">
                <a:effectLst/>
                <a:latin typeface="Times New Roman" panose="02020603050405020304" pitchFamily="18" charset="0"/>
                <a:ea typeface="Times New Roman" panose="02020603050405020304" pitchFamily="18" charset="0"/>
              </a:rPr>
              <a:t> VEEAM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phục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chóng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quá</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phục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hưởng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đến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hệ</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thống</a:t>
            </a:r>
            <a:r>
              <a:rPr lang="en-US" sz="1800" dirty="0">
                <a:effectLst/>
                <a:latin typeface="Times New Roman" panose="02020603050405020304" pitchFamily="18" charset="0"/>
                <a:ea typeface="Times New Roman" panose="02020603050405020304" pitchFamily="18" charset="0"/>
              </a:rPr>
              <a:t>.</a:t>
            </a:r>
          </a:p>
          <a:p>
            <a:pPr marL="342900" lvl="0" indent="-342900" algn="just">
              <a:lnSpc>
                <a:spcPct val="130000"/>
              </a:lnSpc>
              <a:spcBef>
                <a:spcPts val="600"/>
              </a:spcBef>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Thiết</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Lập</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Mạng</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Quản</a:t>
            </a:r>
            <a:r>
              <a:rPr lang="en-US" sz="1800" b="1" dirty="0">
                <a:effectLst/>
                <a:latin typeface="Times New Roman" panose="02020603050405020304" pitchFamily="18" charset="0"/>
                <a:ea typeface="Times New Roman" panose="02020603050405020304" pitchFamily="18" charset="0"/>
              </a:rPr>
              <a:t> Lý, </a:t>
            </a:r>
            <a:r>
              <a:rPr lang="en-US" sz="1800" b="1" dirty="0" err="1">
                <a:effectLst/>
                <a:latin typeface="Times New Roman" panose="02020603050405020304" pitchFamily="18" charset="0"/>
                <a:ea typeface="Times New Roman" panose="02020603050405020304" pitchFamily="18" charset="0"/>
              </a:rPr>
              <a:t>vMotion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và</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vSAN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Riêng</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Biệt</a:t>
            </a:r>
            <a:r>
              <a:rPr lang="en-US" sz="1800" b="1"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biệt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việc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hệ</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thống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hưởng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bởi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lượng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khác</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vMotion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biệt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việc</a:t>
            </a:r>
            <a:r>
              <a:rPr lang="en-US" sz="1800" dirty="0">
                <a:effectLst/>
                <a:latin typeface="Times New Roman" panose="02020603050405020304" pitchFamily="18" charset="0"/>
                <a:ea typeface="Times New Roman" panose="02020603050405020304" pitchFamily="18" charset="0"/>
              </a:rPr>
              <a:t> di </a:t>
            </a:r>
            <a:r>
              <a:rPr lang="en-US" sz="1800" dirty="0" err="1">
                <a:effectLst/>
                <a:latin typeface="Times New Roman" panose="02020603050405020304" pitchFamily="18" charset="0"/>
                <a:ea typeface="Times New Roman" panose="02020603050405020304" pitchFamily="18" charset="0"/>
              </a:rPr>
              <a:t>chuyển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giữa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diễn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mượt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chóng</a:t>
            </a:r>
            <a:r>
              <a:rPr lang="en-US" sz="1800" dirty="0">
                <a:effectLst/>
                <a:latin typeface="Times New Roman" panose="02020603050405020304" pitchFamily="18" charset="0"/>
                <a:ea typeface="Times New Roman" panose="02020603050405020304" pitchFamily="18" charset="0"/>
              </a:rPr>
              <a:t>.</a:t>
            </a:r>
          </a:p>
          <a:p>
            <a:pPr lvl="1"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vSAN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biệt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tối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hóa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rằng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truyền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a:t>
            </a:r>
            <a:r>
              <a:rPr lang="en-US" sz="1800" dirty="0">
                <a:effectLst/>
                <a:latin typeface="Times New Roman" panose="02020603050405020304" pitchFamily="18" charset="0"/>
                <a:ea typeface="Times New Roman" panose="02020603050405020304" pitchFamily="18" charset="0"/>
              </a:rPr>
              <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13509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4439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lnSpc>
                <a:spcPct val="130000"/>
              </a:lnSpc>
              <a:spcBef>
                <a:spcPts val="600"/>
              </a:spcBef>
            </a:pPr>
            <a:r>
              <a:rPr lang="en-US" sz="1800" b="1" dirty="0">
                <a:effectLst/>
                <a:latin typeface="Times New Roman" panose="02020603050405020304" pitchFamily="18" charset="0"/>
                <a:ea typeface="Times New Roman" panose="02020603050405020304" pitchFamily="18" charset="0"/>
              </a:rPr>
              <a:t>WS2K12-DC-01 (DC-DNS)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miền</a:t>
            </a:r>
            <a:r>
              <a:rPr lang="en-US" sz="1800" dirty="0">
                <a:effectLst/>
                <a:latin typeface="Times New Roman" panose="02020603050405020304" pitchFamily="18" charset="0"/>
                <a:ea typeface="Times New Roman" panose="02020603050405020304" pitchFamily="18" charset="0"/>
              </a:rPr>
              <a:t> (DC)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miền</a:t>
            </a:r>
            <a:r>
              <a:rPr lang="en-US" sz="1800" dirty="0">
                <a:effectLst/>
                <a:latin typeface="Times New Roman" panose="02020603050405020304" pitchFamily="18" charset="0"/>
                <a:ea typeface="Times New Roman" panose="02020603050405020304" pitchFamily="18" charset="0"/>
              </a:rPr>
              <a:t> (DNS) : </a:t>
            </a:r>
            <a:r>
              <a:rPr lang="en-US" sz="1800" dirty="0" err="1">
                <a:effectLst/>
                <a:latin typeface="Times New Roman" panose="02020603050405020304" pitchFamily="18" charset="0"/>
                <a:ea typeface="Times New Roman" panose="02020603050405020304" pitchFamily="18" charset="0"/>
              </a:rPr>
              <a:t>Lizen.local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Windows Server 2012 (WS2K12). </a:t>
            </a:r>
          </a:p>
          <a:p>
            <a:pPr algn="just">
              <a:lnSpc>
                <a:spcPct val="130000"/>
              </a:lnSpc>
              <a:spcBef>
                <a:spcPts val="600"/>
              </a:spcBef>
            </a:pPr>
            <a:r>
              <a:rPr lang="en-US" sz="1800" b="1" dirty="0">
                <a:effectLst/>
                <a:latin typeface="Times New Roman" panose="02020603050405020304" pitchFamily="18" charset="0"/>
                <a:ea typeface="Times New Roman" panose="02020603050405020304" pitchFamily="18" charset="0"/>
              </a:rPr>
              <a:t>SA-VCSA8-01:</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Đây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VMware vCenter Server Appliance (VCSA), </a:t>
            </a:r>
            <a:r>
              <a:rPr lang="en-US" sz="1800" dirty="0" err="1">
                <a:effectLst/>
                <a:latin typeface="Times New Roman" panose="02020603050405020304" pitchFamily="18" charset="0"/>
                <a:ea typeface="Times New Roman" panose="02020603050405020304" pitchFamily="18" charset="0"/>
              </a:rPr>
              <a:t>cung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 (VM) </a:t>
            </a:r>
            <a:r>
              <a:rPr lang="en-US" sz="1800" dirty="0" err="1">
                <a:effectLst/>
                <a:latin typeface="Times New Roman" panose="02020603050405020304" pitchFamily="18" charset="0"/>
                <a:ea typeface="Times New Roman" panose="02020603050405020304" pitchFamily="18" charset="0"/>
              </a:rPr>
              <a:t>tương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chúng</a:t>
            </a:r>
            <a:r>
              <a:rPr lang="en-US" sz="1800" dirty="0">
                <a:effectLst/>
                <a:latin typeface="Times New Roman" panose="02020603050405020304" pitchFamily="18" charset="0"/>
                <a:ea typeface="Times New Roman" panose="02020603050405020304" pitchFamily="18" charset="0"/>
              </a:rPr>
              <a:t>. </a:t>
            </a:r>
          </a:p>
          <a:p>
            <a:pPr algn="just">
              <a:lnSpc>
                <a:spcPct val="130000"/>
              </a:lnSpc>
              <a:spcBef>
                <a:spcPts val="600"/>
              </a:spcBef>
            </a:pPr>
            <a:r>
              <a:rPr lang="en-US" sz="1800" b="1" dirty="0">
                <a:effectLst/>
                <a:latin typeface="Times New Roman" panose="02020603050405020304" pitchFamily="18" charset="0"/>
                <a:ea typeface="Times New Roman" panose="02020603050405020304" pitchFamily="18" charset="0"/>
              </a:rPr>
              <a:t>SA-ESXi8-04, SA-ESXi8-01, SA-ESXi8-02, SA-ESXi8-03:</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Đây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loại</a:t>
            </a:r>
            <a:r>
              <a:rPr lang="en-US" sz="1800" dirty="0">
                <a:effectLst/>
                <a:latin typeface="Times New Roman" panose="02020603050405020304" pitchFamily="18" charset="0"/>
                <a:ea typeface="Times New Roman" panose="02020603050405020304" pitchFamily="18" charset="0"/>
              </a:rPr>
              <a:t> hypervisor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khai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VM. </a:t>
            </a:r>
            <a:r>
              <a:rPr lang="en-US" sz="1800" dirty="0" err="1">
                <a:effectLst/>
                <a:latin typeface="Times New Roman" panose="02020603050405020304" pitchFamily="18" charset="0"/>
                <a:ea typeface="Times New Roman" panose="02020603050405020304" pitchFamily="18" charset="0"/>
              </a:rPr>
              <a:t>Mỗi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nhiều</a:t>
            </a:r>
            <a:r>
              <a:rPr lang="en-US" sz="1800" dirty="0">
                <a:effectLst/>
                <a:latin typeface="Times New Roman" panose="02020603050405020304" pitchFamily="18" charset="0"/>
                <a:ea typeface="Times New Roman" panose="02020603050405020304" pitchFamily="18" charset="0"/>
              </a:rPr>
              <a:t> VM </a:t>
            </a:r>
            <a:r>
              <a:rPr lang="en-US" sz="1800" dirty="0" err="1">
                <a:effectLst/>
                <a:latin typeface="Times New Roman" panose="02020603050405020304" pitchFamily="18" charset="0"/>
                <a:ea typeface="Times New Roman" panose="02020603050405020304" pitchFamily="18" charset="0"/>
              </a:rPr>
              <a:t>đang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đó</a:t>
            </a:r>
            <a:r>
              <a:rPr lang="en-US" sz="1800" dirty="0">
                <a:effectLst/>
                <a:latin typeface="Times New Roman" panose="02020603050405020304" pitchFamily="18" charset="0"/>
                <a:ea typeface="Times New Roman" panose="02020603050405020304" pitchFamily="18" charset="0"/>
              </a:rPr>
              <a:t>. Trong </a:t>
            </a:r>
            <a:r>
              <a:rPr lang="en-US" sz="1800" dirty="0" err="1">
                <a:effectLst/>
                <a:latin typeface="Times New Roman" panose="02020603050405020304" pitchFamily="18" charset="0"/>
                <a:ea typeface="Times New Roman" panose="02020603050405020304" pitchFamily="18" charset="0"/>
              </a:rPr>
              <a:t>đó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ESXi-04 </a:t>
            </a:r>
            <a:r>
              <a:rPr lang="en-US" sz="1800" dirty="0" err="1">
                <a:effectLst/>
                <a:latin typeface="Times New Roman" panose="02020603050405020304" pitchFamily="18" charset="0"/>
                <a:ea typeface="Times New Roman" panose="02020603050405020304" pitchFamily="18" charset="0"/>
              </a:rPr>
              <a:t>chứa</a:t>
            </a:r>
            <a:r>
              <a:rPr lang="en-US" sz="1800" dirty="0">
                <a:effectLst/>
                <a:latin typeface="Times New Roman" panose="02020603050405020304" pitchFamily="18" charset="0"/>
                <a:ea typeface="Times New Roman" panose="02020603050405020304" pitchFamily="18" charset="0"/>
              </a:rPr>
              <a:t> vCenter (VCSA8-01)</a:t>
            </a:r>
          </a:p>
          <a:p>
            <a:pPr algn="just">
              <a:lnSpc>
                <a:spcPct val="130000"/>
              </a:lnSpc>
              <a:spcBef>
                <a:spcPts val="600"/>
              </a:spcBef>
            </a:pPr>
            <a:r>
              <a:rPr lang="en-US" sz="1800" b="1" dirty="0" err="1">
                <a:effectLst/>
                <a:latin typeface="Times New Roman" panose="02020603050405020304" pitchFamily="18" charset="0"/>
                <a:ea typeface="Times New Roman" panose="02020603050405020304" pitchFamily="18" charset="0"/>
              </a:rPr>
              <a:t>Kết</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nối</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Mạng</a:t>
            </a:r>
            <a:r>
              <a:rPr lang="en-US" sz="1800" b="1"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đường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thẳng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đại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diện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nối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giữa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gợi</a:t>
            </a:r>
            <a:r>
              <a:rPr lang="en-US" sz="1800" dirty="0">
                <a:effectLst/>
                <a:latin typeface="Times New Roman" panose="02020603050405020304" pitchFamily="18" charset="0"/>
                <a:ea typeface="Times New Roman" panose="02020603050405020304" pitchFamily="18" charset="0"/>
              </a:rPr>
              <a:t> ý </a:t>
            </a:r>
            <a:r>
              <a:rPr lang="en-US" sz="1800" dirty="0" err="1">
                <a:effectLst/>
                <a:latin typeface="Times New Roman" panose="02020603050405020304" pitchFamily="18" charset="0"/>
                <a:ea typeface="Times New Roman" panose="02020603050405020304" pitchFamily="18" charset="0"/>
              </a:rPr>
              <a:t>bởi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biểu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đồ</a:t>
            </a:r>
            <a:r>
              <a:rPr lang="en-US" sz="1800" dirty="0">
                <a:effectLst/>
                <a:latin typeface="Times New Roman" panose="02020603050405020304" pitchFamily="18" charset="0"/>
                <a:ea typeface="Times New Roman" panose="02020603050405020304" pitchFamily="18" charset="0"/>
              </a:rPr>
              <a:t>:</a:t>
            </a:r>
          </a:p>
          <a:p>
            <a:pPr marL="800100" lvl="1" indent="-342900" algn="just">
              <a:lnSpc>
                <a:spcPct val="130000"/>
              </a:lnSpc>
              <a:spcBef>
                <a:spcPts val="600"/>
              </a:spcBef>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Mạng</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Quản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lý</a:t>
            </a:r>
            <a:r>
              <a:rPr lang="en-US" sz="1800" b="1" dirty="0">
                <a:effectLst/>
                <a:latin typeface="Times New Roman" panose="02020603050405020304" pitchFamily="18" charset="0"/>
                <a:ea typeface="Times New Roman" panose="02020603050405020304" pitchFamily="18" charset="0"/>
              </a:rPr>
              <a:t> (Mngt-Prod 192.168.1.0/24):</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Đây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VM.</a:t>
            </a:r>
          </a:p>
          <a:p>
            <a:pPr marL="800100" lvl="1" indent="-342900" algn="just">
              <a:lnSpc>
                <a:spcPct val="130000"/>
              </a:lnSpc>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vSan</a:t>
            </a:r>
            <a:r>
              <a:rPr lang="en-US" sz="1800" b="1" dirty="0">
                <a:effectLst/>
                <a:latin typeface="Times New Roman" panose="02020603050405020304" pitchFamily="18" charset="0"/>
                <a:ea typeface="Times New Roman" panose="02020603050405020304" pitchFamily="18" charset="0"/>
              </a:rPr>
              <a:t>/</a:t>
            </a:r>
            <a:r>
              <a:rPr lang="en-US" sz="1800" b="1" dirty="0" err="1">
                <a:effectLst/>
                <a:latin typeface="Times New Roman" panose="02020603050405020304" pitchFamily="18" charset="0"/>
                <a:ea typeface="Times New Roman" panose="02020603050405020304" pitchFamily="18" charset="0"/>
              </a:rPr>
              <a:t>Lưu</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trữ</a:t>
            </a:r>
            <a:r>
              <a:rPr lang="en-US" sz="1800" b="1" dirty="0">
                <a:effectLst/>
                <a:latin typeface="Times New Roman" panose="02020603050405020304" pitchFamily="18" charset="0"/>
                <a:ea typeface="Times New Roman" panose="02020603050405020304" pitchFamily="18" charset="0"/>
              </a:rPr>
              <a:t> (10.1.1.0/24):</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Đây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nghệ</a:t>
            </a:r>
            <a:r>
              <a:rPr lang="en-US" sz="1800" dirty="0">
                <a:effectLst/>
                <a:latin typeface="Times New Roman" panose="02020603050405020304" pitchFamily="18" charset="0"/>
                <a:ea typeface="Times New Roman" panose="02020603050405020304" pitchFamily="18" charset="0"/>
              </a:rPr>
              <a:t> Virtual SAN (</a:t>
            </a:r>
            <a:r>
              <a:rPr lang="en-US" sz="1800" dirty="0" err="1">
                <a:effectLst/>
                <a:latin typeface="Times New Roman" panose="02020603050405020304" pitchFamily="18" charset="0"/>
                <a:ea typeface="Times New Roman" panose="02020603050405020304" pitchFamily="18" charset="0"/>
              </a:rPr>
              <a:t>vSAN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VMware,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gom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nhóm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cục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bộ</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tạo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chia </a:t>
            </a:r>
            <a:r>
              <a:rPr lang="en-US" sz="1800" dirty="0" err="1">
                <a:effectLst/>
                <a:latin typeface="Times New Roman" panose="02020603050405020304" pitchFamily="18" charset="0"/>
                <a:ea typeface="Times New Roman" panose="02020603050405020304" pitchFamily="18" charset="0"/>
              </a:rPr>
              <a:t>sẻ</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phân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tán</a:t>
            </a:r>
            <a:r>
              <a:rPr lang="en-US" sz="1800" dirty="0">
                <a:effectLst/>
                <a:latin typeface="Times New Roman" panose="02020603050405020304" pitchFamily="18" charset="0"/>
                <a:ea typeface="Times New Roman" panose="02020603050405020304" pitchFamily="18" charset="0"/>
              </a:rPr>
              <a:t>.</a:t>
            </a:r>
          </a:p>
          <a:p>
            <a:pPr marL="800100" lvl="1" indent="-342900" algn="just">
              <a:lnSpc>
                <a:spcPct val="130000"/>
              </a:lnSpc>
              <a:buFont typeface="Symbol" panose="05050102010706020507" pitchFamily="18" charset="2"/>
              <a:buChar char=""/>
            </a:pPr>
            <a:r>
              <a:rPr lang="en-US" sz="1800" b="1" dirty="0" err="1">
                <a:effectLst/>
                <a:latin typeface="Times New Roman" panose="02020603050405020304" pitchFamily="18" charset="0"/>
                <a:ea typeface="Times New Roman" panose="02020603050405020304" pitchFamily="18" charset="0"/>
              </a:rPr>
              <a:t>vMotion</a:t>
            </a:r>
            <a:r>
              <a:rPr lang="en-US" sz="1800" b="1" dirty="0">
                <a:effectLst/>
                <a:latin typeface="Times New Roman" panose="02020603050405020304" pitchFamily="18" charset="0"/>
                <a:ea typeface="Times New Roman" panose="02020603050405020304" pitchFamily="18" charset="0"/>
              </a:rPr>
              <a:t> (10.2.2.0/24):</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dành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vMotion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phép</a:t>
            </a:r>
            <a:r>
              <a:rPr lang="en-US" sz="1800" dirty="0">
                <a:effectLst/>
                <a:latin typeface="Times New Roman" panose="02020603050405020304" pitchFamily="18" charset="0"/>
                <a:ea typeface="Times New Roman" panose="02020603050405020304" pitchFamily="18" charset="0"/>
              </a:rPr>
              <a:t> di </a:t>
            </a:r>
            <a:r>
              <a:rPr lang="en-US" sz="1800" dirty="0" err="1">
                <a:effectLst/>
                <a:latin typeface="Times New Roman" panose="02020603050405020304" pitchFamily="18" charset="0"/>
                <a:ea typeface="Times New Roman" panose="02020603050405020304" pitchFamily="18" charset="0"/>
              </a:rPr>
              <a:t>chuyển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VM </a:t>
            </a:r>
            <a:r>
              <a:rPr lang="en-US" sz="1800" dirty="0" err="1">
                <a:effectLst/>
                <a:latin typeface="Times New Roman" panose="02020603050405020304" pitchFamily="18" charset="0"/>
                <a:ea typeface="Times New Roman" panose="02020603050405020304" pitchFamily="18" charset="0"/>
              </a:rPr>
              <a:t>trực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tiếp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sang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gây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thời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chết</a:t>
            </a:r>
            <a:r>
              <a:rPr lang="en-US" sz="1800" dirty="0">
                <a:effectLst/>
                <a:latin typeface="Times New Roman" panose="02020603050405020304" pitchFamily="18" charset="0"/>
                <a:ea typeface="Times New Roman" panose="02020603050405020304" pitchFamily="18" charset="0"/>
              </a:rPr>
              <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96271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Bảng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hợp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môi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trường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hóa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Mỗi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hàng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tương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với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hoặc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thông</a:t>
            </a:r>
            <a:r>
              <a:rPr lang="en-US" sz="1800" dirty="0">
                <a:effectLst/>
                <a:latin typeface="Times New Roman" panose="02020603050405020304" pitchFamily="18" charset="0"/>
                <a:ea typeface="Times New Roman" panose="02020603050405020304" pitchFamily="18" charset="0"/>
              </a:rPr>
              <a:t> tin </a:t>
            </a:r>
            <a:r>
              <a:rPr lang="en-US" sz="1800" dirty="0" err="1">
                <a:effectLst/>
                <a:latin typeface="Times New Roman" panose="02020603050405020304" pitchFamily="18" charset="0"/>
                <a:ea typeface="Times New Roman" panose="02020603050405020304" pitchFamily="18" charset="0"/>
              </a:rPr>
              <a:t>cụ</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nhau</a:t>
            </a:r>
            <a:r>
              <a:rPr lang="en-US" sz="1800" dirty="0">
                <a:effectLst/>
                <a:latin typeface="Times New Roman" panose="02020603050405020304" pitchFamily="18" charset="0"/>
                <a:ea typeface="Times New Roman" panose="02020603050405020304" pitchFamily="18" charset="0"/>
              </a:rPr>
              <a:t>.</a:t>
            </a:r>
          </a:p>
          <a:p>
            <a:pPr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Đây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bao </a:t>
            </a:r>
            <a:r>
              <a:rPr lang="en-US" sz="1800" dirty="0" err="1">
                <a:effectLst/>
                <a:latin typeface="Times New Roman" panose="02020603050405020304" pitchFamily="18" charset="0"/>
                <a:ea typeface="Times New Roman" panose="02020603050405020304" pitchFamily="18" charset="0"/>
              </a:rPr>
              <a:t>gồm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điều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miền</a:t>
            </a:r>
            <a:r>
              <a:rPr lang="en-US" sz="1800" dirty="0">
                <a:effectLst/>
                <a:latin typeface="Times New Roman" panose="02020603050405020304" pitchFamily="18" charset="0"/>
                <a:ea typeface="Times New Roman" panose="02020603050405020304" pitchFamily="18" charset="0"/>
              </a:rPr>
              <a:t> (DC01),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 (SA-ESXI-01 </a:t>
            </a:r>
            <a:r>
              <a:rPr lang="en-US" sz="1800" dirty="0" err="1">
                <a:effectLst/>
                <a:latin typeface="Times New Roman" panose="02020603050405020304" pitchFamily="18" charset="0"/>
                <a:ea typeface="Times New Roman" panose="02020603050405020304" pitchFamily="18" charset="0"/>
              </a:rPr>
              <a:t>đến</a:t>
            </a:r>
            <a:r>
              <a:rPr lang="en-US" sz="1800" dirty="0">
                <a:effectLst/>
                <a:latin typeface="Times New Roman" panose="02020603050405020304" pitchFamily="18" charset="0"/>
                <a:ea typeface="Times New Roman" panose="02020603050405020304" pitchFamily="18" charset="0"/>
              </a:rPr>
              <a:t> SA-ESXI-04),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vCenter Appliance (VCSA),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giải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pháp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Veeam.</a:t>
            </a:r>
          </a:p>
          <a:p>
            <a:pPr algn="just">
              <a:lnSpc>
                <a:spcPct val="130000"/>
              </a:lnSpc>
              <a:spcBef>
                <a:spcPts val="600"/>
              </a:spcBef>
            </a:pPr>
            <a:r>
              <a:rPr lang="en-US" sz="1800" dirty="0">
                <a:effectLst/>
                <a:latin typeface="Times New Roman" panose="02020603050405020304" pitchFamily="18" charset="0"/>
                <a:ea typeface="Times New Roman" panose="02020603050405020304" pitchFamily="18" charset="0"/>
              </a:rPr>
              <a:t>Hostname: </a:t>
            </a:r>
            <a:r>
              <a:rPr lang="en-US" sz="1800" dirty="0" err="1">
                <a:effectLst/>
                <a:latin typeface="Times New Roman" panose="02020603050405020304" pitchFamily="18" charset="0"/>
                <a:ea typeface="Times New Roman" panose="02020603050405020304" pitchFamily="18" charset="0"/>
              </a:rPr>
              <a:t>Cột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cung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miền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hoàn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mỗi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đều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miền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lizen.local</a:t>
            </a:r>
            <a:r>
              <a:rPr lang="en-US" sz="1800" dirty="0">
                <a:effectLst/>
                <a:latin typeface="Times New Roman" panose="02020603050405020304" pitchFamily="18" charset="0"/>
                <a:ea typeface="Times New Roman" panose="02020603050405020304" pitchFamily="18" charset="0"/>
              </a:rPr>
              <a:t>".</a:t>
            </a:r>
          </a:p>
          <a:p>
            <a:pPr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Lý (Card bridge): </a:t>
            </a:r>
            <a:r>
              <a:rPr lang="en-US" sz="1800" dirty="0" err="1">
                <a:effectLst/>
                <a:latin typeface="Times New Roman" panose="02020603050405020304" pitchFamily="18" charset="0"/>
                <a:ea typeface="Times New Roman" panose="02020603050405020304" pitchFamily="18" charset="0"/>
              </a:rPr>
              <a:t>Cột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trên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lý</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nhiệm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vụ</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để</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cấu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hình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giám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sát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con 192.168.1.0/24.</a:t>
            </a:r>
          </a:p>
          <a:p>
            <a:pPr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vSan</a:t>
            </a:r>
            <a:r>
              <a:rPr lang="en-US" sz="1800" dirty="0">
                <a:effectLst/>
                <a:latin typeface="Times New Roman" panose="02020603050405020304" pitchFamily="18" charset="0"/>
                <a:ea typeface="Times New Roman" panose="02020603050405020304" pitchFamily="18" charset="0"/>
              </a:rPr>
              <a:t>/</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(Card VM2):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quan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đến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hoặc</a:t>
            </a:r>
            <a:r>
              <a:rPr lang="en-US" sz="1800" dirty="0">
                <a:effectLst/>
                <a:latin typeface="Times New Roman" panose="02020603050405020304" pitchFamily="18" charset="0"/>
                <a:ea typeface="Times New Roman" panose="02020603050405020304" pitchFamily="18" charset="0"/>
              </a:rPr>
              <a:t> VMware Virtual SAN (</a:t>
            </a:r>
            <a:r>
              <a:rPr lang="en-US" sz="1800" dirty="0" err="1">
                <a:effectLst/>
                <a:latin typeface="Times New Roman" panose="02020603050405020304" pitchFamily="18" charset="0"/>
                <a:ea typeface="Times New Roman" panose="02020603050405020304" pitchFamily="18" charset="0"/>
              </a:rPr>
              <a:t>vSAN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phép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ESXi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truy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cập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tài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nguyên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trữ</a:t>
            </a:r>
            <a:r>
              <a:rPr lang="en-US" sz="1800" dirty="0">
                <a:effectLst/>
                <a:latin typeface="Times New Roman" panose="02020603050405020304" pitchFamily="18" charset="0"/>
                <a:ea typeface="Times New Roman" panose="02020603050405020304" pitchFamily="18" charset="0"/>
              </a:rPr>
              <a:t> chia </a:t>
            </a:r>
            <a:r>
              <a:rPr lang="en-US" sz="1800" dirty="0" err="1">
                <a:effectLst/>
                <a:latin typeface="Times New Roman" panose="02020603050405020304" pitchFamily="18" charset="0"/>
                <a:ea typeface="Times New Roman" panose="02020603050405020304" pitchFamily="18" charset="0"/>
              </a:rPr>
              <a:t>sẻ</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thuộc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con 10.1.1.0/24.</a:t>
            </a:r>
          </a:p>
          <a:p>
            <a:pPr algn="just">
              <a:lnSpc>
                <a:spcPct val="130000"/>
              </a:lnSpc>
              <a:spcBef>
                <a:spcPts val="600"/>
              </a:spcBef>
            </a:pPr>
            <a:r>
              <a:rPr lang="en-US" sz="1800" dirty="0" err="1">
                <a:effectLst/>
                <a:latin typeface="Times New Roman" panose="02020603050405020304" pitchFamily="18" charset="0"/>
                <a:ea typeface="Times New Roman" panose="02020603050405020304" pitchFamily="18" charset="0"/>
              </a:rPr>
              <a:t>vMotion</a:t>
            </a:r>
            <a:r>
              <a:rPr lang="en-US" sz="1800" dirty="0">
                <a:effectLst/>
                <a:latin typeface="Times New Roman" panose="02020603050405020304" pitchFamily="18" charset="0"/>
                <a:ea typeface="Times New Roman" panose="02020603050405020304" pitchFamily="18" charset="0"/>
              </a:rPr>
              <a:t> (Card VM3): </a:t>
            </a:r>
            <a:r>
              <a:rPr lang="en-US" sz="1800" dirty="0" err="1">
                <a:effectLst/>
                <a:latin typeface="Times New Roman" panose="02020603050405020304" pitchFamily="18" charset="0"/>
                <a:ea typeface="Times New Roman" panose="02020603050405020304" pitchFamily="18" charset="0"/>
              </a:rPr>
              <a:t>Cột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hiển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chỉ</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được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vMotion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tính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năng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phép</a:t>
            </a:r>
            <a:r>
              <a:rPr lang="en-US" sz="1800" dirty="0">
                <a:effectLst/>
                <a:latin typeface="Times New Roman" panose="02020603050405020304" pitchFamily="18" charset="0"/>
                <a:ea typeface="Times New Roman" panose="02020603050405020304" pitchFamily="18" charset="0"/>
              </a:rPr>
              <a:t> di </a:t>
            </a:r>
            <a:r>
              <a:rPr lang="en-US" sz="1800" dirty="0" err="1">
                <a:effectLst/>
                <a:latin typeface="Times New Roman" panose="02020603050405020304" pitchFamily="18" charset="0"/>
                <a:ea typeface="Times New Roman" panose="02020603050405020304" pitchFamily="18" charset="0"/>
              </a:rPr>
              <a:t>chuyển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trực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tiếp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ảo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từ</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một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sang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không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thời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chết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Các</a:t>
            </a:r>
            <a:r>
              <a:rPr lang="en-US" sz="1800" dirty="0">
                <a:effectLst/>
                <a:latin typeface="Times New Roman" panose="02020603050405020304" pitchFamily="18" charset="0"/>
                <a:ea typeface="Times New Roman" panose="02020603050405020304" pitchFamily="18" charset="0"/>
              </a:rPr>
              <a:t> IP </a:t>
            </a:r>
            <a:r>
              <a:rPr lang="en-US" sz="1800" dirty="0" err="1">
                <a:effectLst/>
                <a:latin typeface="Times New Roman" panose="02020603050405020304" pitchFamily="18" charset="0"/>
                <a:ea typeface="Times New Roman" panose="02020603050405020304" pitchFamily="18" charset="0"/>
              </a:rPr>
              <a:t>này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nằm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rPr>
              <a:t> con 10.2.2.0/24.</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8209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b="0" i="0" dirty="0">
                <a:solidFill>
                  <a:srgbClr val="0D0D0D"/>
                </a:solidFill>
                <a:effectLst/>
                <a:latin typeface="Söhne"/>
              </a:rPr>
              <a:t>VMware ESXi (Elastic Sky X Integrated) là một hypervisor loại 1, được phát triển bởi VMware, sử dụng để ảo hóa các máy chủ.</a:t>
            </a:r>
            <a:endParaRPr lang="en-US" b="0" i="0" dirty="0">
              <a:solidFill>
                <a:srgbClr val="0D0D0D"/>
              </a:solidFill>
              <a:effectLst/>
              <a:latin typeface="Söhne"/>
            </a:endParaRPr>
          </a:p>
          <a:p>
            <a:pPr algn="l"/>
            <a:r>
              <a:rPr lang="vi-VN" b="1" i="0" dirty="0">
                <a:solidFill>
                  <a:srgbClr val="0D0D0D"/>
                </a:solidFill>
                <a:effectLst/>
                <a:latin typeface="Söhne"/>
              </a:rPr>
              <a:t>Các đặc điểm chính của VMware ESXi:</a:t>
            </a:r>
          </a:p>
          <a:p>
            <a:pPr algn="l">
              <a:buFont typeface="+mj-lt"/>
              <a:buAutoNum type="arabicPeriod"/>
            </a:pPr>
            <a:r>
              <a:rPr lang="vi-VN" b="1" i="0" dirty="0">
                <a:solidFill>
                  <a:srgbClr val="0D0D0D"/>
                </a:solidFill>
                <a:effectLst/>
                <a:latin typeface="Söhne"/>
              </a:rPr>
              <a:t>Hiệu suất cao</a:t>
            </a:r>
            <a:r>
              <a:rPr lang="vi-VN" b="0" i="0" dirty="0">
                <a:solidFill>
                  <a:srgbClr val="0D0D0D"/>
                </a:solidFill>
                <a:effectLst/>
                <a:latin typeface="Söhne"/>
              </a:rPr>
              <a:t>: Vì ESXi là một hypervisor loại 1, nó có thể truy cập trực tiếp vào phần cứng của máy chủ, giúp tăng hiệu suất so với các hypervisor loại 2 chạy trên hệ điều hành chủ.</a:t>
            </a:r>
          </a:p>
          <a:p>
            <a:pPr algn="l">
              <a:buFont typeface="+mj-lt"/>
              <a:buAutoNum type="arabicPeriod"/>
            </a:pPr>
            <a:r>
              <a:rPr lang="vi-VN" b="1" i="0" dirty="0">
                <a:solidFill>
                  <a:srgbClr val="0D0D0D"/>
                </a:solidFill>
                <a:effectLst/>
                <a:latin typeface="Söhne"/>
              </a:rPr>
              <a:t>Quản lý tập trung</a:t>
            </a:r>
            <a:r>
              <a:rPr lang="vi-VN" b="0" i="0" dirty="0">
                <a:solidFill>
                  <a:srgbClr val="0D0D0D"/>
                </a:solidFill>
                <a:effectLst/>
                <a:latin typeface="Söhne"/>
              </a:rPr>
              <a:t>: ESXi có thể được quản lý thông qua VMware vCenter, cho phép quản lý tập trung các máy chủ và máy ảo, tạo điều kiện thuận lợi cho việc triển khai, giám sát và quản lý tài nguyên.</a:t>
            </a:r>
          </a:p>
          <a:p>
            <a:pPr algn="l">
              <a:buFont typeface="+mj-lt"/>
              <a:buAutoNum type="arabicPeriod"/>
            </a:pPr>
            <a:r>
              <a:rPr lang="vi-VN" b="1" i="0" dirty="0">
                <a:solidFill>
                  <a:srgbClr val="0D0D0D"/>
                </a:solidFill>
                <a:effectLst/>
                <a:latin typeface="Söhne"/>
              </a:rPr>
              <a:t>Bảo mật</a:t>
            </a:r>
            <a:r>
              <a:rPr lang="vi-VN" b="0" i="0" dirty="0">
                <a:solidFill>
                  <a:srgbClr val="0D0D0D"/>
                </a:solidFill>
                <a:effectLst/>
                <a:latin typeface="Söhne"/>
              </a:rPr>
              <a:t>: VMware ESXi có các tính năng bảo mật nâng cao, bao gồm việc hỗ trợ TPM (Trusted Platform Module), Secure Boot và các công cụ mã hóa máy ảo.</a:t>
            </a:r>
          </a:p>
          <a:p>
            <a:pPr algn="l">
              <a:buFont typeface="+mj-lt"/>
              <a:buAutoNum type="arabicPeriod"/>
            </a:pPr>
            <a:r>
              <a:rPr lang="vi-VN" b="1" i="0" dirty="0">
                <a:solidFill>
                  <a:srgbClr val="0D0D0D"/>
                </a:solidFill>
                <a:effectLst/>
                <a:latin typeface="Söhne"/>
              </a:rPr>
              <a:t>Khả năng mở rộng</a:t>
            </a:r>
            <a:r>
              <a:rPr lang="vi-VN" b="0" i="0" dirty="0">
                <a:solidFill>
                  <a:srgbClr val="0D0D0D"/>
                </a:solidFill>
                <a:effectLst/>
                <a:latin typeface="Söhne"/>
              </a:rPr>
              <a:t>: ESXi có thể mở rộng dễ dàng, từ việc ảo hóa một vài máy ảo trên một máy chủ nhỏ đến hàng ngàn máy ảo trên nhiều máy chủ lớn.</a:t>
            </a:r>
          </a:p>
          <a:p>
            <a:pPr algn="l">
              <a:buFont typeface="+mj-lt"/>
              <a:buAutoNum type="arabicPeriod"/>
            </a:pPr>
            <a:r>
              <a:rPr lang="vi-VN" b="1" i="0" dirty="0">
                <a:solidFill>
                  <a:srgbClr val="0D0D0D"/>
                </a:solidFill>
                <a:effectLst/>
                <a:latin typeface="Söhne"/>
              </a:rPr>
              <a:t>Khả năng dự phòng và phục hồi</a:t>
            </a:r>
            <a:r>
              <a:rPr lang="vi-VN" b="0" i="0" dirty="0">
                <a:solidFill>
                  <a:srgbClr val="0D0D0D"/>
                </a:solidFill>
                <a:effectLst/>
                <a:latin typeface="Söhne"/>
              </a:rPr>
              <a:t>: Tính năng như VMware vMotion, DRS (Distributed Resource Scheduler) và HA (High Availability) giúp đảm bảo rằng các máy ảo có thể được di chuyển, phân phối tài nguyên và phục hồi tự động trong trường hợp xảy ra sự cố.</a:t>
            </a:r>
          </a:p>
          <a:p>
            <a:pPr algn="l"/>
            <a:r>
              <a:rPr lang="vi-VN" b="1" i="0" dirty="0">
                <a:solidFill>
                  <a:srgbClr val="0D0D0D"/>
                </a:solidFill>
                <a:effectLst/>
                <a:latin typeface="Söhne"/>
              </a:rPr>
              <a:t>Các lợi ích của việc sử dụng VMware ESXi:</a:t>
            </a:r>
          </a:p>
          <a:p>
            <a:pPr algn="l">
              <a:buFont typeface="Arial" panose="020B0604020202020204" pitchFamily="34" charset="0"/>
              <a:buChar char="•"/>
            </a:pPr>
            <a:r>
              <a:rPr lang="vi-VN" b="1" i="0" dirty="0">
                <a:solidFill>
                  <a:srgbClr val="0D0D0D"/>
                </a:solidFill>
                <a:effectLst/>
                <a:latin typeface="Söhne"/>
              </a:rPr>
              <a:t>Giảm chi phí phần cứng</a:t>
            </a:r>
            <a:r>
              <a:rPr lang="vi-VN" b="0" i="0" dirty="0">
                <a:solidFill>
                  <a:srgbClr val="0D0D0D"/>
                </a:solidFill>
                <a:effectLst/>
                <a:latin typeface="Söhne"/>
              </a:rPr>
              <a:t>: Ảo hóa cho phép nhiều hệ điều hành và ứng dụng chạy trên cùng một máy chủ vật lý, giảm nhu cầu mua thêm phần cứng.</a:t>
            </a:r>
          </a:p>
          <a:p>
            <a:pPr algn="l">
              <a:buFont typeface="Arial" panose="020B0604020202020204" pitchFamily="34" charset="0"/>
              <a:buChar char="•"/>
            </a:pPr>
            <a:r>
              <a:rPr lang="vi-VN" b="1" i="0" dirty="0">
                <a:solidFill>
                  <a:srgbClr val="0D0D0D"/>
                </a:solidFill>
                <a:effectLst/>
                <a:latin typeface="Söhne"/>
              </a:rPr>
              <a:t>Tăng tính linh hoạt và hiệu quả</a:t>
            </a:r>
            <a:r>
              <a:rPr lang="vi-VN" b="0" i="0" dirty="0">
                <a:solidFill>
                  <a:srgbClr val="0D0D0D"/>
                </a:solidFill>
                <a:effectLst/>
                <a:latin typeface="Söhne"/>
              </a:rPr>
              <a:t>: Việc triển khai và quản lý máy ảo nhanh chóng và dễ dàng hơn so với máy chủ vật lý.</a:t>
            </a:r>
          </a:p>
          <a:p>
            <a:pPr algn="l">
              <a:buFont typeface="Arial" panose="020B0604020202020204" pitchFamily="34" charset="0"/>
              <a:buChar char="•"/>
            </a:pPr>
            <a:r>
              <a:rPr lang="vi-VN" b="1" i="0" dirty="0">
                <a:solidFill>
                  <a:srgbClr val="0D0D0D"/>
                </a:solidFill>
                <a:effectLst/>
                <a:latin typeface="Söhne"/>
              </a:rPr>
              <a:t>Tối ưu hóa sử dụng tài nguyên</a:t>
            </a:r>
            <a:r>
              <a:rPr lang="vi-VN" b="0" i="0" dirty="0">
                <a:solidFill>
                  <a:srgbClr val="0D0D0D"/>
                </a:solidFill>
                <a:effectLst/>
                <a:latin typeface="Söhne"/>
              </a:rPr>
              <a:t>: Giúp sử dụng tối đa tài nguyên phần cứng, giảm lãng phí.</a:t>
            </a:r>
          </a:p>
          <a:p>
            <a:pPr algn="l">
              <a:buFont typeface="Arial" panose="020B0604020202020204" pitchFamily="34" charset="0"/>
              <a:buChar char="•"/>
            </a:pPr>
            <a:r>
              <a:rPr lang="vi-VN" b="1" i="0" dirty="0">
                <a:solidFill>
                  <a:srgbClr val="0D0D0D"/>
                </a:solidFill>
                <a:effectLst/>
                <a:latin typeface="Söhne"/>
              </a:rPr>
              <a:t>Dễ dàng quản lý và bảo trì</a:t>
            </a:r>
            <a:r>
              <a:rPr lang="vi-VN" b="0" i="0" dirty="0">
                <a:solidFill>
                  <a:srgbClr val="0D0D0D"/>
                </a:solidFill>
                <a:effectLst/>
                <a:latin typeface="Söhne"/>
              </a:rPr>
              <a:t>: Các công cụ quản lý tập trung giúp việc giám sát, bảo trì và nâng cấp hệ thống</a:t>
            </a:r>
            <a:endParaRPr lang="en-US" b="0" i="0" dirty="0">
              <a:solidFill>
                <a:srgbClr val="0D0D0D"/>
              </a:solidFill>
              <a:effectLst/>
              <a:latin typeface="Söhne"/>
            </a:endParaRP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r>
              <a:rPr lang="en-US" b="0" i="0" dirty="0">
                <a:solidFill>
                  <a:srgbClr val="0D0D0D"/>
                </a:solidFill>
                <a:effectLst/>
                <a:latin typeface="Söhne"/>
              </a:rPr>
              <a:t>ESXI server: 10gb </a:t>
            </a:r>
            <a:r>
              <a:rPr lang="en-US" b="0" i="0" dirty="0" err="1">
                <a:solidFill>
                  <a:srgbClr val="0D0D0D"/>
                </a:solidFill>
                <a:effectLst/>
                <a:latin typeface="Söhne"/>
              </a:rPr>
              <a:t>Ram,HDD</a:t>
            </a:r>
            <a:r>
              <a:rPr lang="en-US" b="0" i="0" dirty="0">
                <a:solidFill>
                  <a:srgbClr val="0D0D0D"/>
                </a:solidFill>
                <a:effectLst/>
                <a:latin typeface="Söhne"/>
              </a:rPr>
              <a:t> 142 (</a:t>
            </a:r>
            <a:r>
              <a:rPr lang="en-US" b="0" i="0" dirty="0" err="1">
                <a:solidFill>
                  <a:srgbClr val="0D0D0D"/>
                </a:solidFill>
                <a:effectLst/>
                <a:latin typeface="Söhne"/>
              </a:rPr>
              <a:t>cài</a:t>
            </a:r>
            <a:r>
              <a:rPr lang="en-US" b="0" i="0" dirty="0">
                <a:solidFill>
                  <a:srgbClr val="0D0D0D"/>
                </a:solidFill>
                <a:effectLst/>
                <a:latin typeface="Söhne"/>
              </a:rPr>
              <a:t> </a:t>
            </a:r>
            <a:r>
              <a:rPr lang="en-US" b="0" i="0" dirty="0" err="1">
                <a:solidFill>
                  <a:srgbClr val="0D0D0D"/>
                </a:solidFill>
                <a:effectLst/>
                <a:latin typeface="Söhne"/>
              </a:rPr>
              <a:t>hệ</a:t>
            </a:r>
            <a:r>
              <a:rPr lang="en-US" b="0" i="0" dirty="0">
                <a:solidFill>
                  <a:srgbClr val="0D0D0D"/>
                </a:solidFill>
                <a:effectLst/>
                <a:latin typeface="Söhne"/>
              </a:rPr>
              <a:t> </a:t>
            </a:r>
            <a:r>
              <a:rPr lang="en-US" b="0" i="0" dirty="0" err="1">
                <a:solidFill>
                  <a:srgbClr val="0D0D0D"/>
                </a:solidFill>
                <a:effectLst/>
                <a:latin typeface="Söhne"/>
              </a:rPr>
              <a:t>điều</a:t>
            </a:r>
            <a:r>
              <a:rPr lang="en-US" b="0" i="0" dirty="0">
                <a:solidFill>
                  <a:srgbClr val="0D0D0D"/>
                </a:solidFill>
                <a:effectLst/>
                <a:latin typeface="Söhne"/>
              </a:rPr>
              <a:t> </a:t>
            </a:r>
            <a:r>
              <a:rPr lang="en-US" b="0" i="0" dirty="0" err="1">
                <a:solidFill>
                  <a:srgbClr val="0D0D0D"/>
                </a:solidFill>
                <a:effectLst/>
                <a:latin typeface="Söhne"/>
              </a:rPr>
              <a:t>hành</a:t>
            </a:r>
            <a:r>
              <a:rPr lang="en-US" b="0" i="0" dirty="0">
                <a:solidFill>
                  <a:srgbClr val="0D0D0D"/>
                </a:solidFill>
                <a:effectLst/>
                <a:latin typeface="Söhne"/>
              </a:rPr>
              <a:t> </a:t>
            </a:r>
            <a:r>
              <a:rPr lang="en-US" b="0" i="0" dirty="0" err="1">
                <a:solidFill>
                  <a:srgbClr val="0D0D0D"/>
                </a:solidFill>
                <a:effectLst/>
                <a:latin typeface="Söhne"/>
              </a:rPr>
              <a:t>ESXi</a:t>
            </a:r>
            <a:r>
              <a:rPr lang="en-US" b="0" i="0" dirty="0">
                <a:solidFill>
                  <a:srgbClr val="0D0D0D"/>
                </a:solidFill>
                <a:effectLst/>
                <a:latin typeface="Söhne"/>
              </a:rPr>
              <a:t>) ; HDD 500gb (</a:t>
            </a:r>
            <a:r>
              <a:rPr lang="en-US" b="0" i="0" dirty="0" err="1">
                <a:solidFill>
                  <a:srgbClr val="0D0D0D"/>
                </a:solidFill>
                <a:effectLst/>
                <a:latin typeface="Söhne"/>
              </a:rPr>
              <a:t>lưu</a:t>
            </a:r>
            <a:r>
              <a:rPr lang="en-US" b="0" i="0" dirty="0">
                <a:solidFill>
                  <a:srgbClr val="0D0D0D"/>
                </a:solidFill>
                <a:effectLst/>
                <a:latin typeface="Söhne"/>
              </a:rPr>
              <a:t> </a:t>
            </a:r>
            <a:r>
              <a:rPr lang="en-US" b="0" i="0" dirty="0" err="1">
                <a:solidFill>
                  <a:srgbClr val="0D0D0D"/>
                </a:solidFill>
                <a:effectLst/>
                <a:latin typeface="Söhne"/>
              </a:rPr>
              <a:t>trữ</a:t>
            </a:r>
            <a:r>
              <a:rPr lang="en-US" b="0" i="0" dirty="0">
                <a:solidFill>
                  <a:srgbClr val="0D0D0D"/>
                </a:solidFill>
                <a:effectLst/>
                <a:latin typeface="Söhne"/>
              </a:rPr>
              <a:t> </a:t>
            </a:r>
            <a:r>
              <a:rPr lang="en-US" b="0" i="0" dirty="0" err="1">
                <a:solidFill>
                  <a:srgbClr val="0D0D0D"/>
                </a:solidFill>
                <a:effectLst/>
                <a:latin typeface="Söhne"/>
              </a:rPr>
              <a:t>máy</a:t>
            </a:r>
            <a:r>
              <a:rPr lang="en-US" b="0" i="0" dirty="0">
                <a:solidFill>
                  <a:srgbClr val="0D0D0D"/>
                </a:solidFill>
                <a:effectLst/>
                <a:latin typeface="Söhne"/>
              </a:rPr>
              <a:t> </a:t>
            </a:r>
            <a:r>
              <a:rPr lang="en-US" b="0" i="0" dirty="0" err="1">
                <a:solidFill>
                  <a:srgbClr val="0D0D0D"/>
                </a:solidFill>
                <a:effectLst/>
                <a:latin typeface="Söhne"/>
              </a:rPr>
              <a:t>ảo</a:t>
            </a:r>
            <a:r>
              <a:rPr lang="en-US" b="0" i="0" dirty="0">
                <a:solidFill>
                  <a:srgbClr val="0D0D0D"/>
                </a:solidFill>
                <a:effectLst/>
                <a:latin typeface="Söhne"/>
              </a:rPr>
              <a:t>)(capacity tier), SSD: 100GB(dung </a:t>
            </a:r>
            <a:r>
              <a:rPr lang="en-US" b="0" i="0" dirty="0" err="1">
                <a:solidFill>
                  <a:srgbClr val="0D0D0D"/>
                </a:solidFill>
                <a:effectLst/>
                <a:latin typeface="Söhne"/>
              </a:rPr>
              <a:t>để</a:t>
            </a:r>
            <a:r>
              <a:rPr lang="en-US" b="0" i="0" dirty="0">
                <a:solidFill>
                  <a:srgbClr val="0D0D0D"/>
                </a:solidFill>
                <a:effectLst/>
                <a:latin typeface="Söhne"/>
              </a:rPr>
              <a:t> </a:t>
            </a:r>
            <a:r>
              <a:rPr lang="en-US" b="0" i="0" dirty="0" err="1">
                <a:solidFill>
                  <a:srgbClr val="0D0D0D"/>
                </a:solidFill>
                <a:effectLst/>
                <a:latin typeface="Söhne"/>
              </a:rPr>
              <a:t>làm</a:t>
            </a:r>
            <a:r>
              <a:rPr lang="en-US" b="0" i="0" dirty="0">
                <a:solidFill>
                  <a:srgbClr val="0D0D0D"/>
                </a:solidFill>
                <a:effectLst/>
                <a:latin typeface="Söhne"/>
              </a:rPr>
              <a:t> cache tier )</a:t>
            </a:r>
            <a:endParaRPr lang="vi-VN" b="0" i="0" dirty="0">
              <a:solidFill>
                <a:srgbClr val="0D0D0D"/>
              </a:solidFill>
              <a:effectLst/>
              <a:latin typeface="Söhne"/>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92389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vi-VN" b="0" i="0" dirty="0">
                <a:solidFill>
                  <a:srgbClr val="0D0D0D"/>
                </a:solidFill>
                <a:effectLst/>
                <a:latin typeface="Söhne"/>
              </a:rPr>
              <a:t>VMware vCenter là một giải pháp quản lý tập trung được phát triển bởi VMware, dùng để quản lý các môi trường ảo hóa được xây dựng trên nền tảng VMware vSphere. Nó cung cấp một giao diện duy nhất để quản lý nhiều máy chủ ESXi và các máy ảo (VMs) chạy trên chúng.</a:t>
            </a:r>
          </a:p>
          <a:p>
            <a:pPr algn="l"/>
            <a:r>
              <a:rPr lang="vi-VN" b="1" i="0" dirty="0">
                <a:solidFill>
                  <a:srgbClr val="0D0D0D"/>
                </a:solidFill>
                <a:effectLst/>
                <a:latin typeface="Söhne"/>
              </a:rPr>
              <a:t>Các đặc điểm chính của VMware vCenter:</a:t>
            </a:r>
          </a:p>
          <a:p>
            <a:pPr algn="l">
              <a:buFont typeface="+mj-lt"/>
              <a:buAutoNum type="arabicPeriod"/>
            </a:pPr>
            <a:r>
              <a:rPr lang="vi-VN" b="1" i="0" dirty="0">
                <a:solidFill>
                  <a:srgbClr val="0D0D0D"/>
                </a:solidFill>
                <a:effectLst/>
                <a:latin typeface="Söhne"/>
              </a:rPr>
              <a:t>Quản lý tập trung</a:t>
            </a:r>
            <a:r>
              <a:rPr lang="vi-VN" b="0" i="0" dirty="0">
                <a:solidFill>
                  <a:srgbClr val="0D0D0D"/>
                </a:solidFill>
                <a:effectLst/>
                <a:latin typeface="Söhne"/>
              </a:rPr>
              <a:t>: vCenter cho phép quản lý tập trung tất cả các máy chủ ESXi và các máy ảo trong một hạ tầng ảo hóa. Người quản trị có thể theo dõi, điều khiển và quản lý tài nguyên từ một điểm duy nhất.</a:t>
            </a:r>
          </a:p>
          <a:p>
            <a:pPr algn="l">
              <a:buFont typeface="+mj-lt"/>
              <a:buAutoNum type="arabicPeriod"/>
            </a:pPr>
            <a:r>
              <a:rPr lang="vi-VN" b="1" i="0" dirty="0">
                <a:solidFill>
                  <a:srgbClr val="0D0D0D"/>
                </a:solidFill>
                <a:effectLst/>
                <a:latin typeface="Söhne"/>
              </a:rPr>
              <a:t>Khả năng mở rộng</a:t>
            </a:r>
            <a:r>
              <a:rPr lang="vi-VN" b="0" i="0" dirty="0">
                <a:solidFill>
                  <a:srgbClr val="0D0D0D"/>
                </a:solidFill>
                <a:effectLst/>
                <a:latin typeface="Söhne"/>
              </a:rPr>
              <a:t>: vCenter có thể quản lý hàng ngàn máy ảo trên nhiều máy chủ vật lý. Nó cung cấp khả năng mở rộng cao, phù hợp cho cả các doanh nghiệp nhỏ lẫn các trung tâm dữ liệu lớn.</a:t>
            </a:r>
          </a:p>
          <a:p>
            <a:pPr algn="l">
              <a:buFont typeface="+mj-lt"/>
              <a:buAutoNum type="arabicPeriod"/>
            </a:pPr>
            <a:r>
              <a:rPr lang="vi-VN" b="1" i="0" dirty="0">
                <a:solidFill>
                  <a:srgbClr val="0D0D0D"/>
                </a:solidFill>
                <a:effectLst/>
                <a:latin typeface="Söhne"/>
              </a:rPr>
              <a:t>Tính năng cao cấp</a:t>
            </a:r>
            <a:r>
              <a:rPr lang="vi-VN" b="0" i="0" dirty="0">
                <a:solidFill>
                  <a:srgbClr val="0D0D0D"/>
                </a:solidFill>
                <a:effectLst/>
                <a:latin typeface="Söhne"/>
              </a:rPr>
              <a:t>: vCenter cung cấp nhiều tính năng nâng cao như vMotion (di chuyển máy ảo giữa các máy chủ mà không làm gián đoạn dịch vụ), DRS (Distributed Resource Scheduler, tối ưu hóa tài nguyên tự động), HA (High Availability, đảm bảo tính sẵn sàng cao cho các máy ảo), và FT (Fault Tolerance, đảm bảo tính liên tục của dịch vụ).</a:t>
            </a:r>
          </a:p>
          <a:p>
            <a:pPr algn="l">
              <a:buFont typeface="+mj-lt"/>
              <a:buAutoNum type="arabicPeriod"/>
            </a:pPr>
            <a:r>
              <a:rPr lang="vi-VN" b="1" i="0" dirty="0">
                <a:solidFill>
                  <a:srgbClr val="0D0D0D"/>
                </a:solidFill>
                <a:effectLst/>
                <a:latin typeface="Söhne"/>
              </a:rPr>
              <a:t>Quản lý lưu trữ và mạng</a:t>
            </a:r>
            <a:r>
              <a:rPr lang="vi-VN" b="0" i="0" dirty="0">
                <a:solidFill>
                  <a:srgbClr val="0D0D0D"/>
                </a:solidFill>
                <a:effectLst/>
                <a:latin typeface="Söhne"/>
              </a:rPr>
              <a:t>: vCenter tích hợp các công cụ quản lý lưu trữ và mạng, cho phép quản lý tập trung và tối ưu hóa tài nguyên lưu trữ và mạng.</a:t>
            </a:r>
          </a:p>
          <a:p>
            <a:pPr algn="l">
              <a:buFont typeface="+mj-lt"/>
              <a:buAutoNum type="arabicPeriod"/>
            </a:pPr>
            <a:r>
              <a:rPr lang="vi-VN" b="1" i="0" dirty="0">
                <a:solidFill>
                  <a:srgbClr val="0D0D0D"/>
                </a:solidFill>
                <a:effectLst/>
                <a:latin typeface="Söhne"/>
              </a:rPr>
              <a:t>Báo cáo và giám sát</a:t>
            </a:r>
            <a:r>
              <a:rPr lang="vi-VN" b="0" i="0" dirty="0">
                <a:solidFill>
                  <a:srgbClr val="0D0D0D"/>
                </a:solidFill>
                <a:effectLst/>
                <a:latin typeface="Söhne"/>
              </a:rPr>
              <a:t>: Cung cấp các công cụ báo cáo và giám sát chi tiết, giúp người quản trị theo dõi hiệu suất, sức khỏe hệ thống và phát hiện các vấn đề tiềm ẩn.</a:t>
            </a:r>
          </a:p>
          <a:p>
            <a:pPr algn="l"/>
            <a:r>
              <a:rPr lang="vi-VN" b="1" i="0" dirty="0">
                <a:solidFill>
                  <a:srgbClr val="0D0D0D"/>
                </a:solidFill>
                <a:effectLst/>
                <a:latin typeface="Söhne"/>
              </a:rPr>
              <a:t>Các lợi ích của việc sử dụng VMware vCenter:</a:t>
            </a:r>
          </a:p>
          <a:p>
            <a:pPr algn="l">
              <a:buFont typeface="Arial" panose="020B0604020202020204" pitchFamily="34" charset="0"/>
              <a:buChar char="•"/>
            </a:pPr>
            <a:r>
              <a:rPr lang="vi-VN" b="1" i="0" dirty="0">
                <a:solidFill>
                  <a:srgbClr val="0D0D0D"/>
                </a:solidFill>
                <a:effectLst/>
                <a:latin typeface="Söhne"/>
              </a:rPr>
              <a:t>Quản lý hiệu quả</a:t>
            </a:r>
            <a:r>
              <a:rPr lang="vi-VN" b="0" i="0" dirty="0">
                <a:solidFill>
                  <a:srgbClr val="0D0D0D"/>
                </a:solidFill>
                <a:effectLst/>
                <a:latin typeface="Söhne"/>
              </a:rPr>
              <a:t>: Quản lý toàn bộ hạ tầng ảo hóa từ một giao diện duy nhất, giảm thiểu sự phức tạp và tăng cường hiệu quả quản lý.</a:t>
            </a:r>
          </a:p>
          <a:p>
            <a:pPr algn="l">
              <a:buFont typeface="Arial" panose="020B0604020202020204" pitchFamily="34" charset="0"/>
              <a:buChar char="•"/>
            </a:pPr>
            <a:r>
              <a:rPr lang="vi-VN" b="1" i="0" dirty="0">
                <a:solidFill>
                  <a:srgbClr val="0D0D0D"/>
                </a:solidFill>
                <a:effectLst/>
                <a:latin typeface="Söhne"/>
              </a:rPr>
              <a:t>Tăng tính sẵn sàng và hiệu suất</a:t>
            </a:r>
            <a:r>
              <a:rPr lang="vi-VN" b="0" i="0" dirty="0">
                <a:solidFill>
                  <a:srgbClr val="0D0D0D"/>
                </a:solidFill>
                <a:effectLst/>
                <a:latin typeface="Söhne"/>
              </a:rPr>
              <a:t>: Các tính năng như HA và DRS giúp đảm bảo rằng các máy ảo luôn hoạt động ở trạng thái tốt nhất và có khả năng phục hồi nhanh chóng khi xảy ra sự cố.</a:t>
            </a:r>
          </a:p>
          <a:p>
            <a:pPr algn="l">
              <a:buFont typeface="Arial" panose="020B0604020202020204" pitchFamily="34" charset="0"/>
              <a:buChar char="•"/>
            </a:pPr>
            <a:r>
              <a:rPr lang="vi-VN" b="1" i="0" dirty="0">
                <a:solidFill>
                  <a:srgbClr val="0D0D0D"/>
                </a:solidFill>
                <a:effectLst/>
                <a:latin typeface="Söhne"/>
              </a:rPr>
              <a:t>Tối ưu hóa tài nguyên</a:t>
            </a:r>
            <a:r>
              <a:rPr lang="vi-VN" b="0" i="0" dirty="0">
                <a:solidFill>
                  <a:srgbClr val="0D0D0D"/>
                </a:solidFill>
                <a:effectLst/>
                <a:latin typeface="Söhne"/>
              </a:rPr>
              <a:t>: Giúp tối ưu hóa việc sử dụng tài nguyên phần cứng và nâng cao hiệu suất hoạt động của các máy ảo.</a:t>
            </a:r>
          </a:p>
          <a:p>
            <a:pPr algn="l">
              <a:buFont typeface="Arial" panose="020B0604020202020204" pitchFamily="34" charset="0"/>
              <a:buChar char="•"/>
            </a:pPr>
            <a:r>
              <a:rPr lang="vi-VN" b="1" i="0" dirty="0">
                <a:solidFill>
                  <a:srgbClr val="0D0D0D"/>
                </a:solidFill>
                <a:effectLst/>
                <a:latin typeface="Söhne"/>
              </a:rPr>
              <a:t>Tự động hóa</a:t>
            </a:r>
            <a:r>
              <a:rPr lang="vi-VN" b="0" i="0" dirty="0">
                <a:solidFill>
                  <a:srgbClr val="0D0D0D"/>
                </a:solidFill>
                <a:effectLst/>
                <a:latin typeface="Söhne"/>
              </a:rPr>
              <a:t>: vCenter hỗ trợ tự động hóa nhiều tác vụ quản lý, giúp tiết kiệm thời gian và giảm thiểu sai sót do con người gây ra.</a:t>
            </a:r>
          </a:p>
          <a:p>
            <a:pPr algn="l">
              <a:buFont typeface="Arial" panose="020B0604020202020204" pitchFamily="34" charset="0"/>
              <a:buChar char="•"/>
            </a:pPr>
            <a:r>
              <a:rPr lang="vi-VN" b="1" i="0" dirty="0">
                <a:solidFill>
                  <a:srgbClr val="0D0D0D"/>
                </a:solidFill>
                <a:effectLst/>
                <a:latin typeface="Söhne"/>
              </a:rPr>
              <a:t>Bảo mật và kiểm soát</a:t>
            </a:r>
            <a:r>
              <a:rPr lang="vi-VN" b="0" i="0" dirty="0">
                <a:solidFill>
                  <a:srgbClr val="0D0D0D"/>
                </a:solidFill>
                <a:effectLst/>
                <a:latin typeface="Söhne"/>
              </a:rPr>
              <a:t>: Cung cấp các công cụ</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042741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vi-VN" b="0" i="0" dirty="0">
                <a:solidFill>
                  <a:srgbClr val="0D0D0D"/>
                </a:solidFill>
                <a:effectLst/>
                <a:latin typeface="Söhne"/>
              </a:rPr>
              <a:t>VMware vSAN (Virtual SAN) là một giải pháp lưu trữ được tích hợp trực tiếp vào hypervisor VMware ESXi. Nó cho phép tạo ra một hệ thống lưu trữ phân tán bằng cách kết hợp các ổ đĩa cục bộ (local storage) của nhiều máy chủ ESXi trong một cụm (cluster) để tạo thành một không gian lưu trữ chung.</a:t>
            </a:r>
          </a:p>
          <a:p>
            <a:pPr algn="l"/>
            <a:r>
              <a:rPr lang="vi-VN" b="1" i="0" dirty="0">
                <a:solidFill>
                  <a:srgbClr val="0D0D0D"/>
                </a:solidFill>
                <a:effectLst/>
                <a:latin typeface="Söhne"/>
              </a:rPr>
              <a:t>Các đặc điểm chính của VMware vSAN:</a:t>
            </a:r>
          </a:p>
          <a:p>
            <a:pPr algn="l">
              <a:buFont typeface="+mj-lt"/>
              <a:buAutoNum type="arabicPeriod"/>
            </a:pPr>
            <a:r>
              <a:rPr lang="vi-VN" b="1" i="0" dirty="0">
                <a:solidFill>
                  <a:srgbClr val="0D0D0D"/>
                </a:solidFill>
                <a:effectLst/>
                <a:latin typeface="Söhne"/>
              </a:rPr>
              <a:t>Tích hợp sẵn trong ESXi</a:t>
            </a:r>
            <a:r>
              <a:rPr lang="vi-VN" b="0" i="0" dirty="0">
                <a:solidFill>
                  <a:srgbClr val="0D0D0D"/>
                </a:solidFill>
                <a:effectLst/>
                <a:latin typeface="Söhne"/>
              </a:rPr>
              <a:t>: vSAN được tích hợp sẵn trong hypervisor ESXi, không cần cài đặt thêm phần mềm hoặc phần cứng riêng biệt.</a:t>
            </a:r>
          </a:p>
          <a:p>
            <a:pPr algn="l">
              <a:buFont typeface="+mj-lt"/>
              <a:buAutoNum type="arabicPeriod"/>
            </a:pPr>
            <a:r>
              <a:rPr lang="vi-VN" b="1" i="0" dirty="0">
                <a:solidFill>
                  <a:srgbClr val="0D0D0D"/>
                </a:solidFill>
                <a:effectLst/>
                <a:latin typeface="Söhne"/>
              </a:rPr>
              <a:t>Khả năng mở rộng</a:t>
            </a:r>
            <a:r>
              <a:rPr lang="vi-VN" b="0" i="0" dirty="0">
                <a:solidFill>
                  <a:srgbClr val="0D0D0D"/>
                </a:solidFill>
                <a:effectLst/>
                <a:latin typeface="Söhne"/>
              </a:rPr>
              <a:t>: Dễ dàng mở rộng dung lượng lưu trữ bằng cách thêm ổ đĩa vào các máy chủ hiện có hoặc thêm máy chủ mới vào cụm.</a:t>
            </a:r>
          </a:p>
          <a:p>
            <a:pPr algn="l">
              <a:buFont typeface="+mj-lt"/>
              <a:buAutoNum type="arabicPeriod"/>
            </a:pPr>
            <a:r>
              <a:rPr lang="vi-VN" b="1" i="0" dirty="0">
                <a:solidFill>
                  <a:srgbClr val="0D0D0D"/>
                </a:solidFill>
                <a:effectLst/>
                <a:latin typeface="Söhne"/>
              </a:rPr>
              <a:t>Quản lý đơn giản</a:t>
            </a:r>
            <a:r>
              <a:rPr lang="vi-VN" b="0" i="0" dirty="0">
                <a:solidFill>
                  <a:srgbClr val="0D0D0D"/>
                </a:solidFill>
                <a:effectLst/>
                <a:latin typeface="Söhne"/>
              </a:rPr>
              <a:t>: Được quản lý thông qua vCenter, giúp quản lý lưu trữ dễ dàng và tập trung. vSAN cũng tích hợp với các công cụ quản lý và giám sát khác của VMware.</a:t>
            </a:r>
          </a:p>
          <a:p>
            <a:pPr algn="l">
              <a:buFont typeface="+mj-lt"/>
              <a:buAutoNum type="arabicPeriod"/>
            </a:pPr>
            <a:r>
              <a:rPr lang="vi-VN" b="1" i="0" dirty="0">
                <a:solidFill>
                  <a:srgbClr val="0D0D0D"/>
                </a:solidFill>
                <a:effectLst/>
                <a:latin typeface="Söhne"/>
              </a:rPr>
              <a:t>Hiệu suất cao và tối ưu hóa</a:t>
            </a:r>
            <a:r>
              <a:rPr lang="vi-VN" b="0" i="0" dirty="0">
                <a:solidFill>
                  <a:srgbClr val="0D0D0D"/>
                </a:solidFill>
                <a:effectLst/>
                <a:latin typeface="Söhne"/>
              </a:rPr>
              <a:t>: Hỗ trợ caching bằng SSD và các cơ chế tối ưu hóa khác để</a:t>
            </a:r>
          </a:p>
          <a:p>
            <a:pPr algn="l"/>
            <a:r>
              <a:rPr lang="vi-VN" b="0" i="0" dirty="0">
                <a:solidFill>
                  <a:srgbClr val="0D0D0D"/>
                </a:solidFill>
                <a:effectLst/>
                <a:latin typeface="Söhne"/>
              </a:rPr>
              <a:t>tăng cường hiệu suất lưu trữ, giảm độ trễ và cải thiện tốc độ truy xuất dữ liệu.</a:t>
            </a:r>
          </a:p>
          <a:p>
            <a:pPr algn="l">
              <a:buFont typeface="+mj-lt"/>
              <a:buAutoNum type="arabicPeriod" startAt="6"/>
            </a:pPr>
            <a:r>
              <a:rPr lang="vi-VN" b="1" i="0" dirty="0">
                <a:solidFill>
                  <a:srgbClr val="0D0D0D"/>
                </a:solidFill>
                <a:effectLst/>
                <a:latin typeface="Söhne"/>
              </a:rPr>
              <a:t>Tính sẵn sàng cao và bảo vệ dữ liệu</a:t>
            </a:r>
            <a:r>
              <a:rPr lang="vi-VN" b="0" i="0" dirty="0">
                <a:solidFill>
                  <a:srgbClr val="0D0D0D"/>
                </a:solidFill>
                <a:effectLst/>
                <a:latin typeface="Söhne"/>
              </a:rPr>
              <a:t>: vSAN cung cấp các cơ chế bảo vệ dữ liệu như mirroring (sao chép dữ liệu giữa các ổ đĩa) và erasure coding (mã hóa phân tán) để đảm bảo tính sẵn sàng và an toàn của dữ liệu trong trường hợp có sự cố phần cứng.</a:t>
            </a:r>
          </a:p>
          <a:p>
            <a:pPr algn="l">
              <a:buFont typeface="+mj-lt"/>
              <a:buAutoNum type="arabicPeriod" startAt="6"/>
            </a:pPr>
            <a:r>
              <a:rPr lang="vi-VN" b="1" i="0" dirty="0">
                <a:solidFill>
                  <a:srgbClr val="0D0D0D"/>
                </a:solidFill>
                <a:effectLst/>
                <a:latin typeface="Söhne"/>
              </a:rPr>
              <a:t>Chính sách lưu trữ dựa trên phần mềm</a:t>
            </a:r>
            <a:r>
              <a:rPr lang="vi-VN" b="0" i="0" dirty="0">
                <a:solidFill>
                  <a:srgbClr val="0D0D0D"/>
                </a:solidFill>
                <a:effectLst/>
                <a:latin typeface="Söhne"/>
              </a:rPr>
              <a:t>: Cho phép người quản trị định nghĩa và áp dụng các chính sách lưu trữ cụ thể cho từng máy ảo hoặc nhóm máy ảo, như mức độ sẵn sàng, hiệu suất, và dung lượng lưu trữ cần thiết.</a:t>
            </a:r>
          </a:p>
          <a:p>
            <a:pPr algn="l"/>
            <a:r>
              <a:rPr lang="vi-VN" b="1" i="0" dirty="0">
                <a:solidFill>
                  <a:srgbClr val="0D0D0D"/>
                </a:solidFill>
                <a:effectLst/>
                <a:latin typeface="Söhne"/>
              </a:rPr>
              <a:t>Các lợi ích của việc sử dụng VMware vSAN:</a:t>
            </a:r>
          </a:p>
          <a:p>
            <a:pPr algn="l">
              <a:buFont typeface="Arial" panose="020B0604020202020204" pitchFamily="34" charset="0"/>
              <a:buChar char="•"/>
            </a:pPr>
            <a:r>
              <a:rPr lang="vi-VN" b="1" i="0" dirty="0">
                <a:solidFill>
                  <a:srgbClr val="0D0D0D"/>
                </a:solidFill>
                <a:effectLst/>
                <a:latin typeface="Söhne"/>
              </a:rPr>
              <a:t>Tối ưu hóa chi phí</a:t>
            </a:r>
            <a:r>
              <a:rPr lang="vi-VN" b="0" i="0" dirty="0">
                <a:solidFill>
                  <a:srgbClr val="0D0D0D"/>
                </a:solidFill>
                <a:effectLst/>
                <a:latin typeface="Söhne"/>
              </a:rPr>
              <a:t>: Sử dụng ổ đĩa cục bộ giúp giảm chi phí so với việc sử dụng các giải pháp lưu trữ SAN hoặc NAS truyền thống.</a:t>
            </a:r>
          </a:p>
          <a:p>
            <a:pPr algn="l">
              <a:buFont typeface="Arial" panose="020B0604020202020204" pitchFamily="34" charset="0"/>
              <a:buChar char="•"/>
            </a:pPr>
            <a:r>
              <a:rPr lang="vi-VN" b="1" i="0" dirty="0">
                <a:solidFill>
                  <a:srgbClr val="0D0D0D"/>
                </a:solidFill>
                <a:effectLst/>
                <a:latin typeface="Söhne"/>
              </a:rPr>
              <a:t>Đơn giản hóa hạ tầng</a:t>
            </a:r>
            <a:r>
              <a:rPr lang="vi-VN" b="0" i="0" dirty="0">
                <a:solidFill>
                  <a:srgbClr val="0D0D0D"/>
                </a:solidFill>
                <a:effectLst/>
                <a:latin typeface="Söhne"/>
              </a:rPr>
              <a:t>: Tích hợp lưu trữ vào hạ tầng ảo hóa, giảm sự phức tạp trong việc quản lý và triển khai.</a:t>
            </a:r>
          </a:p>
          <a:p>
            <a:pPr algn="l">
              <a:buFont typeface="Arial" panose="020B0604020202020204" pitchFamily="34" charset="0"/>
              <a:buChar char="•"/>
            </a:pPr>
            <a:r>
              <a:rPr lang="vi-VN" b="1" i="0" dirty="0">
                <a:solidFill>
                  <a:srgbClr val="0D0D0D"/>
                </a:solidFill>
                <a:effectLst/>
                <a:latin typeface="Söhne"/>
              </a:rPr>
              <a:t>Khả năng mở rộng linh hoạt</a:t>
            </a:r>
            <a:r>
              <a:rPr lang="vi-VN" b="0" i="0" dirty="0">
                <a:solidFill>
                  <a:srgbClr val="0D0D0D"/>
                </a:solidFill>
                <a:effectLst/>
                <a:latin typeface="Söhne"/>
              </a:rPr>
              <a:t>: Dễ dàng mở rộng dung lượng lưu trữ mà không cần thay đổi cấu trúc hạ tầng hiện có.</a:t>
            </a:r>
          </a:p>
          <a:p>
            <a:pPr algn="l">
              <a:buFont typeface="Arial" panose="020B0604020202020204" pitchFamily="34" charset="0"/>
              <a:buChar char="•"/>
            </a:pPr>
            <a:r>
              <a:rPr lang="vi-VN" b="1" i="0" dirty="0">
                <a:solidFill>
                  <a:srgbClr val="0D0D0D"/>
                </a:solidFill>
                <a:effectLst/>
                <a:latin typeface="Söhne"/>
              </a:rPr>
              <a:t>Hiệu suất cao</a:t>
            </a:r>
            <a:r>
              <a:rPr lang="vi-VN" b="0" i="0" dirty="0">
                <a:solidFill>
                  <a:srgbClr val="0D0D0D"/>
                </a:solidFill>
                <a:effectLst/>
                <a:latin typeface="Söhne"/>
              </a:rPr>
              <a:t>: Tận dụng công nghệ caching và các cơ chế tối ưu hóa để đảm bảo hiệu suất lưu trữ tốt nhất.</a:t>
            </a:r>
          </a:p>
          <a:p>
            <a:pPr algn="l">
              <a:buFont typeface="Arial" panose="020B0604020202020204" pitchFamily="34" charset="0"/>
              <a:buChar char="•"/>
            </a:pPr>
            <a:r>
              <a:rPr lang="vi-VN" b="1" i="0" dirty="0">
                <a:solidFill>
                  <a:srgbClr val="0D0D0D"/>
                </a:solidFill>
                <a:effectLst/>
                <a:latin typeface="Söhne"/>
              </a:rPr>
              <a:t>Tính sẵn sàng và bảo vệ dữ liệu</a:t>
            </a:r>
            <a:r>
              <a:rPr lang="vi-VN" b="0" i="0" dirty="0">
                <a:solidFill>
                  <a:srgbClr val="0D0D0D"/>
                </a:solidFill>
                <a:effectLst/>
                <a:latin typeface="Söhne"/>
              </a:rPr>
              <a:t>: Đảm bảo dữ liệu luôn sẵn sàng và an toàn, ngay cả khi có sự cố xảy ra với phần cứng.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42726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vi-VN" b="0" i="0" dirty="0">
                <a:solidFill>
                  <a:srgbClr val="0D0D0D"/>
                </a:solidFill>
                <a:effectLst/>
                <a:latin typeface="Söhne"/>
              </a:rPr>
              <a:t>VMware vSphere HA (High Availability) là một tính năng quan trọng của nền tảng VMware vSphere, được thiết kế để đảm bảo tính sẵn sàng cao cho các máy ảo (VMs) bằng cách tự động phát hiện và khôi phục từ các lỗi phần cứng hoặc phần mềm của máy chủ ESXi. Khi một sự cố xảy ra, vSphere HA sẽ tự động khởi động lại các máy ảo bị ảnh hưởng trên các máy chủ ESXi còn hoạt động trong cụm (cluster).</a:t>
            </a:r>
          </a:p>
          <a:p>
            <a:pPr algn="l"/>
            <a:r>
              <a:rPr lang="vi-VN" b="1" i="0" dirty="0">
                <a:solidFill>
                  <a:srgbClr val="0D0D0D"/>
                </a:solidFill>
                <a:effectLst/>
                <a:latin typeface="Söhne"/>
              </a:rPr>
              <a:t>Cách vSphere HA hoạt động:</a:t>
            </a:r>
          </a:p>
          <a:p>
            <a:pPr algn="l">
              <a:buFont typeface="+mj-lt"/>
              <a:buAutoNum type="arabicPeriod"/>
            </a:pPr>
            <a:r>
              <a:rPr lang="vi-VN" b="1" i="0" dirty="0">
                <a:solidFill>
                  <a:srgbClr val="0D0D0D"/>
                </a:solidFill>
                <a:effectLst/>
                <a:latin typeface="Söhne"/>
              </a:rPr>
              <a:t>Cấu hình cụm vSphere HA</a:t>
            </a:r>
            <a:r>
              <a:rPr lang="vi-VN" b="0" i="0" dirty="0">
                <a:solidFill>
                  <a:srgbClr val="0D0D0D"/>
                </a:solidFill>
                <a:effectLst/>
                <a:latin typeface="Söhne"/>
              </a:rPr>
              <a:t>: Khi vSphere HA được kích hoạt trên một cụm, tất cả các máy chủ ESXi trong cụm sẽ tham gia vào một mạng lưới giám sát lỗi (failure detection network).</a:t>
            </a:r>
          </a:p>
          <a:p>
            <a:pPr algn="l">
              <a:buFont typeface="+mj-lt"/>
              <a:buAutoNum type="arabicPeriod"/>
            </a:pPr>
            <a:r>
              <a:rPr lang="vi-VN" b="1" i="0" dirty="0">
                <a:solidFill>
                  <a:srgbClr val="0D0D0D"/>
                </a:solidFill>
                <a:effectLst/>
                <a:latin typeface="Söhne"/>
              </a:rPr>
              <a:t>Bầu chọn Master và Slave</a:t>
            </a:r>
            <a:r>
              <a:rPr lang="vi-VN" b="0" i="0" dirty="0">
                <a:solidFill>
                  <a:srgbClr val="0D0D0D"/>
                </a:solidFill>
                <a:effectLst/>
                <a:latin typeface="Söhne"/>
              </a:rPr>
              <a:t>: Một trong các máy chủ ESXi sẽ được bầu chọn làm "Master", trong khi các máy chủ còn lại sẽ trở thành "Slave". Máy chủ Master chịu trách nhiệm giám sát trạng thái của tất cả các máy chủ trong cụm và các máy ảo.</a:t>
            </a:r>
          </a:p>
          <a:p>
            <a:pPr algn="l">
              <a:buFont typeface="+mj-lt"/>
              <a:buAutoNum type="arabicPeriod"/>
            </a:pPr>
            <a:r>
              <a:rPr lang="vi-VN" b="1" i="0" dirty="0">
                <a:solidFill>
                  <a:srgbClr val="0D0D0D"/>
                </a:solidFill>
                <a:effectLst/>
                <a:latin typeface="Söhne"/>
              </a:rPr>
              <a:t>Giám sát và phát hiện lỗi</a:t>
            </a:r>
            <a:r>
              <a:rPr lang="vi-VN" b="0" i="0" dirty="0">
                <a:solidFill>
                  <a:srgbClr val="0D0D0D"/>
                </a:solidFill>
                <a:effectLst/>
                <a:latin typeface="Söhne"/>
              </a:rPr>
              <a:t>: Máy chủ Master định kỳ gửi các tín hiệu "heartbeat" tới các máy chủ Slave để xác nhận rằng chúng vẫn đang hoạt động. Nếu một máy chủ ESXi ngừng gửi tín hiệu heartbeat (do lỗi phần cứng hoặc phần mềm), máy chủ Master sẽ phát hiện sự cố này.</a:t>
            </a:r>
          </a:p>
          <a:p>
            <a:pPr algn="l">
              <a:buFont typeface="+mj-lt"/>
              <a:buAutoNum type="arabicPeriod"/>
            </a:pPr>
            <a:r>
              <a:rPr lang="vi-VN" b="1" i="0" dirty="0">
                <a:solidFill>
                  <a:srgbClr val="0D0D0D"/>
                </a:solidFill>
                <a:effectLst/>
                <a:latin typeface="Söhne"/>
              </a:rPr>
              <a:t>Phát hiện lỗi máy ảo</a:t>
            </a:r>
            <a:r>
              <a:rPr lang="vi-VN" b="0" i="0" dirty="0">
                <a:solidFill>
                  <a:srgbClr val="0D0D0D"/>
                </a:solidFill>
                <a:effectLst/>
                <a:latin typeface="Söhne"/>
              </a:rPr>
              <a:t>: Nếu một máy ảo không phản hồi, vSphere HA cũng có thể phát hiện điều này thông qua tính năng giám sát máy ảo (VM monitoring). VM monitoring sử dụng VMware Tools để kiểm tra trạng thái của máy ảo và các ứng dụng chạy bên trong nó.</a:t>
            </a:r>
          </a:p>
          <a:p>
            <a:pPr algn="l">
              <a:buFont typeface="+mj-lt"/>
              <a:buAutoNum type="arabicPeriod"/>
            </a:pPr>
            <a:r>
              <a:rPr lang="vi-VN" b="1" i="0" dirty="0">
                <a:solidFill>
                  <a:srgbClr val="0D0D0D"/>
                </a:solidFill>
                <a:effectLst/>
                <a:latin typeface="Söhne"/>
              </a:rPr>
              <a:t>Khôi phục tự động</a:t>
            </a:r>
            <a:r>
              <a:rPr lang="vi-VN" b="0" i="0" dirty="0">
                <a:solidFill>
                  <a:srgbClr val="0D0D0D"/>
                </a:solidFill>
                <a:effectLst/>
                <a:latin typeface="Söhne"/>
              </a:rPr>
              <a:t>: Khi vSphere HA phát hiện lỗi trên một máy chủ ESXi hoặc một máy ảo, nó sẽ tự động khởi động lại các máy ảo bị ảnh hưởng trên các máy chủ ESXi còn hoạt động trong cụm. Điều này đảm bảo rằng dịch vụ của các máy ảo sẽ được khôi phục nhanh chóng mà không cần sự can thiệp của người quản trị.</a:t>
            </a:r>
          </a:p>
          <a:p>
            <a:pPr algn="l">
              <a:buFont typeface="+mj-lt"/>
              <a:buAutoNum type="arabicPeriod"/>
            </a:pPr>
            <a:r>
              <a:rPr lang="vi-VN" b="1" i="0" dirty="0">
                <a:solidFill>
                  <a:srgbClr val="0D0D0D"/>
                </a:solidFill>
                <a:effectLst/>
                <a:latin typeface="Söhne"/>
              </a:rPr>
              <a:t>Phân bổ tài nguyên</a:t>
            </a:r>
            <a:r>
              <a:rPr lang="vi-VN" b="0" i="0" dirty="0">
                <a:solidFill>
                  <a:srgbClr val="0D0D0D"/>
                </a:solidFill>
                <a:effectLst/>
                <a:latin typeface="Söhne"/>
              </a:rPr>
              <a:t>: vSphere HA làm việc cùng với Distributed Resource Scheduler (DRS) để đảm bảo rằng các máy ảo khởi động lại được phân bổ tài nguyên hợp lý trên các máy chủ ESXi trong cụm.</a:t>
            </a:r>
            <a:endParaRPr lang="en-US" b="0" i="0" dirty="0">
              <a:solidFill>
                <a:srgbClr val="0D0D0D"/>
              </a:solidFill>
              <a:effectLst/>
              <a:latin typeface="Söhne"/>
            </a:endParaRPr>
          </a:p>
          <a:p>
            <a:pPr algn="l">
              <a:buFont typeface="+mj-lt"/>
              <a:buAutoNum type="arabicPeriod"/>
            </a:pPr>
            <a:endParaRPr lang="vi-VN" b="0" i="0" dirty="0">
              <a:solidFill>
                <a:srgbClr val="0D0D0D"/>
              </a:solidFill>
              <a:effectLst/>
              <a:latin typeface="Söhne"/>
            </a:endParaRPr>
          </a:p>
          <a:p>
            <a:pPr algn="l"/>
            <a:r>
              <a:rPr lang="vi-VN" b="0" i="0" dirty="0">
                <a:solidFill>
                  <a:srgbClr val="0D0D0D"/>
                </a:solidFill>
                <a:effectLst/>
                <a:latin typeface="Söhne"/>
              </a:rPr>
              <a:t>VMware Fault Tolerance (FT) là một tính năng cao cấp của VMware vSphere, cung cấp khả năng bảo vệ liên tục cho các máy ảo (VMs) bằng cách tạo ra một bản sao hoàn hảo của một máy ảo chính (primary VM) và đồng bộ hóa nó trên một máy chủ khác trong cụm. Điều này đảm bảo rằng, nếu máy chủ chính gặp sự cố, máy ảo sao lưu (secondary VM) sẽ tiếp quản ngay lập tức mà không mất bất kỳ dữ liệu nào hoặc gây gián đoạn dịch vụ.</a:t>
            </a:r>
          </a:p>
          <a:p>
            <a:pPr algn="l"/>
            <a:r>
              <a:rPr lang="vi-VN" b="1" i="0" dirty="0">
                <a:solidFill>
                  <a:srgbClr val="0D0D0D"/>
                </a:solidFill>
                <a:effectLst/>
                <a:latin typeface="Söhne"/>
              </a:rPr>
              <a:t>Cách hoạt động của Fault Tolerance (FT):</a:t>
            </a:r>
          </a:p>
          <a:p>
            <a:pPr algn="l">
              <a:buFont typeface="+mj-lt"/>
              <a:buAutoNum type="arabicPeriod"/>
            </a:pPr>
            <a:r>
              <a:rPr lang="vi-VN" b="1" i="0" dirty="0">
                <a:solidFill>
                  <a:srgbClr val="0D0D0D"/>
                </a:solidFill>
                <a:effectLst/>
                <a:latin typeface="Söhne"/>
              </a:rPr>
              <a:t>Tạo máy ảo sao lưu</a:t>
            </a:r>
            <a:r>
              <a:rPr lang="vi-VN" b="0" i="0" dirty="0">
                <a:solidFill>
                  <a:srgbClr val="0D0D0D"/>
                </a:solidFill>
                <a:effectLst/>
                <a:latin typeface="Söhne"/>
              </a:rPr>
              <a:t>: Khi Fault Tolerance được kích hoạt cho một máy ảo, vSphere sẽ tạo ra một máy ảo sao lưu (secondary VM) trên một máy chủ ESXi khác trong cụm. Máy ảo này là một bản sao chính xác của máy ảo chính.</a:t>
            </a:r>
          </a:p>
          <a:p>
            <a:pPr algn="l">
              <a:buFont typeface="+mj-lt"/>
              <a:buAutoNum type="arabicPeriod"/>
            </a:pPr>
            <a:r>
              <a:rPr lang="vi-VN" b="1" i="0" dirty="0">
                <a:solidFill>
                  <a:srgbClr val="0D0D0D"/>
                </a:solidFill>
                <a:effectLst/>
                <a:latin typeface="Söhne"/>
              </a:rPr>
              <a:t>Đồng bộ hóa trạng thái</a:t>
            </a:r>
            <a:r>
              <a:rPr lang="vi-VN" b="0" i="0" dirty="0">
                <a:solidFill>
                  <a:srgbClr val="0D0D0D"/>
                </a:solidFill>
                <a:effectLst/>
                <a:latin typeface="Söhne"/>
              </a:rPr>
              <a:t>: FT sử dụng một kỹ thuật gọi là "lockstep" để đảm bảo rằng cả máy ảo chính và máy ảo sao lưu luôn ở cùng một trạng thái. Mọi thay đổi trên máy ảo chính (ví dụ: CPU, bộ nhớ) được ghi lại và gửi đồng thời đến máy ảo sao lưu.</a:t>
            </a:r>
          </a:p>
          <a:p>
            <a:pPr algn="l">
              <a:buFont typeface="+mj-lt"/>
              <a:buAutoNum type="arabicPeriod"/>
            </a:pPr>
            <a:r>
              <a:rPr lang="vi-VN" b="1" i="0" dirty="0">
                <a:solidFill>
                  <a:srgbClr val="0D0D0D"/>
                </a:solidFill>
                <a:effectLst/>
                <a:latin typeface="Söhne"/>
              </a:rPr>
              <a:t>Giám sát và chuyển đổi</a:t>
            </a:r>
            <a:r>
              <a:rPr lang="vi-VN" b="0" i="0" dirty="0">
                <a:solidFill>
                  <a:srgbClr val="0D0D0D"/>
                </a:solidFill>
                <a:effectLst/>
                <a:latin typeface="Söhne"/>
              </a:rPr>
              <a:t>: VMware vSphere liên tục giám sát trạng thái của cả hai máy ảo. Nếu máy chủ ESXi chạy máy ảo chính gặp sự cố (ví dụ: hỏng phần cứng hoặc lỗi phần mềm), máy ảo sao lưu sẽ tiếp quản ngay lập tức mà không mất bất kỳ dữ liệu nào hoặc gây gián đoạn dịch vụ. Quá trình này hoàn toàn tự động và không yêu cầu sự can thiệp của người quản trị.</a:t>
            </a:r>
          </a:p>
          <a:p>
            <a:pPr algn="l">
              <a:buFont typeface="+mj-lt"/>
              <a:buAutoNum type="arabicPeriod"/>
            </a:pPr>
            <a:r>
              <a:rPr lang="vi-VN" b="1" i="0" dirty="0">
                <a:solidFill>
                  <a:srgbClr val="0D0D0D"/>
                </a:solidFill>
                <a:effectLst/>
                <a:latin typeface="Söhne"/>
              </a:rPr>
              <a:t>Tạo lại máy ảo sao lưu</a:t>
            </a:r>
            <a:r>
              <a:rPr lang="vi-VN" b="0" i="0" dirty="0">
                <a:solidFill>
                  <a:srgbClr val="0D0D0D"/>
                </a:solidFill>
                <a:effectLst/>
                <a:latin typeface="Söhne"/>
              </a:rPr>
              <a:t>: Sau khi máy ảo sao lưu trở thành máy ảo chính, vSphere sẽ tự động tạo ra một máy ảo sao lưu mới trên một máy chủ ESXi khác trong cụm để tiếp tục bảo vệ.</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291647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DRS (Distributed Resource Scheduler) là một tính năng trong nền tảng VMware vSphere, được thiết kế để tự động cân bằng tài nguyên tính toán (như CPU và bộ nhớ) trên các máy chủ ảo trong một môi trường ảo hóa. DRS giúp tối ưu hóa hiệu suất và sử dụng tài nguyên trong cụm máy chủ vSphere bằng cách di chuyển các máy ảo giữa các máy chủ dựa trên tải công việc và cấu hình tài nguyên của máy chủ. Điều này giúp đảm bảo rằng không có máy chủ nào trong cụm vSphere bị quá tải hoặc thiếu tài nguyên, từ đó cải thiện hiệu suất toàn diện và sự tin cậy của môi trường ảo hóa.</a:t>
            </a:r>
            <a:endParaRPr dirty="0"/>
          </a:p>
        </p:txBody>
      </p:sp>
    </p:spTree>
    <p:extLst>
      <p:ext uri="{BB962C8B-B14F-4D97-AF65-F5344CB8AC3E}">
        <p14:creationId xmlns:p14="http://schemas.microsoft.com/office/powerpoint/2010/main" val="7807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vi-VN" b="0" i="0" dirty="0">
                <a:solidFill>
                  <a:srgbClr val="0D0D0D"/>
                </a:solidFill>
                <a:effectLst/>
                <a:latin typeface="Söhne"/>
              </a:rPr>
              <a:t>Veeam Backup &amp; Replication là một giải pháp phần mềm toàn diện được phát triển bởi Veeam Software, thiết kế để cung cấp sao lưu, khôi phục và phục hồi sau thảm họa cho các môi trường ảo hóa, vật lý và đám mây. Đây là một công cụ phổ biến trong quản trị hệ thống và an ninh dữ liệu, với nhiều tính năng và khả năng mạnh mẽ để đảm bảo dữ liệu luôn sẵn sàng và an toàn.</a:t>
            </a:r>
          </a:p>
          <a:p>
            <a:pPr algn="l"/>
            <a:r>
              <a:rPr lang="vi-VN" b="1" i="0" dirty="0">
                <a:solidFill>
                  <a:srgbClr val="0D0D0D"/>
                </a:solidFill>
                <a:effectLst/>
                <a:latin typeface="Söhne"/>
              </a:rPr>
              <a:t>Các tính năng chính của Veeam Backup &amp; Replication:</a:t>
            </a:r>
          </a:p>
          <a:p>
            <a:pPr algn="l">
              <a:buFont typeface="+mj-lt"/>
              <a:buAutoNum type="arabicPeriod"/>
            </a:pPr>
            <a:r>
              <a:rPr lang="vi-VN" b="1" i="0" dirty="0">
                <a:solidFill>
                  <a:srgbClr val="0D0D0D"/>
                </a:solidFill>
                <a:effectLst/>
                <a:latin typeface="Söhne"/>
              </a:rPr>
              <a:t>Sao lưu (Backup)</a:t>
            </a:r>
            <a:r>
              <a:rPr lang="vi-VN" b="0" i="0" dirty="0">
                <a:solidFill>
                  <a:srgbClr val="0D0D0D"/>
                </a:solidFill>
                <a:effectLst/>
                <a:latin typeface="Söhne"/>
              </a:rPr>
              <a:t>:</a:t>
            </a:r>
          </a:p>
          <a:p>
            <a:pPr marL="742950" lvl="1" indent="-285750" algn="l">
              <a:buFont typeface="+mj-lt"/>
              <a:buAutoNum type="arabicPeriod"/>
            </a:pPr>
            <a:r>
              <a:rPr lang="vi-VN" b="1" i="0" dirty="0">
                <a:solidFill>
                  <a:srgbClr val="0D0D0D"/>
                </a:solidFill>
                <a:effectLst/>
                <a:latin typeface="Söhne"/>
              </a:rPr>
              <a:t>Backup toàn diện</a:t>
            </a:r>
            <a:r>
              <a:rPr lang="vi-VN" b="0" i="0" dirty="0">
                <a:solidFill>
                  <a:srgbClr val="0D0D0D"/>
                </a:solidFill>
                <a:effectLst/>
                <a:latin typeface="Söhne"/>
              </a:rPr>
              <a:t>: Hỗ trợ sao lưu toàn bộ máy ảo, máy chủ vật lý, và dữ liệu ứng dụng.</a:t>
            </a:r>
          </a:p>
          <a:p>
            <a:pPr marL="742950" lvl="1" indent="-285750" algn="l">
              <a:buFont typeface="+mj-lt"/>
              <a:buAutoNum type="arabicPeriod"/>
            </a:pPr>
            <a:r>
              <a:rPr lang="vi-VN" b="1" i="0" dirty="0">
                <a:solidFill>
                  <a:srgbClr val="0D0D0D"/>
                </a:solidFill>
                <a:effectLst/>
                <a:latin typeface="Söhne"/>
              </a:rPr>
              <a:t>Sao lưu gia tăng (Incremental Backup)</a:t>
            </a:r>
            <a:r>
              <a:rPr lang="vi-VN" b="0" i="0" dirty="0">
                <a:solidFill>
                  <a:srgbClr val="0D0D0D"/>
                </a:solidFill>
                <a:effectLst/>
                <a:latin typeface="Söhne"/>
              </a:rPr>
              <a:t>: Chỉ sao lưu các thay đổi kể từ lần sao lưu gần nhất, giúp tiết kiệm thời gian và dung lượng lưu trữ.</a:t>
            </a:r>
          </a:p>
          <a:p>
            <a:pPr marL="742950" lvl="1" indent="-285750" algn="l">
              <a:buFont typeface="+mj-lt"/>
              <a:buAutoNum type="arabicPeriod"/>
            </a:pPr>
            <a:r>
              <a:rPr lang="vi-VN" b="1" i="0" dirty="0">
                <a:solidFill>
                  <a:srgbClr val="0D0D0D"/>
                </a:solidFill>
                <a:effectLst/>
                <a:latin typeface="Söhne"/>
              </a:rPr>
              <a:t>Backup thông minh</a:t>
            </a:r>
            <a:r>
              <a:rPr lang="vi-VN" b="0" i="0" dirty="0">
                <a:solidFill>
                  <a:srgbClr val="0D0D0D"/>
                </a:solidFill>
                <a:effectLst/>
                <a:latin typeface="Söhne"/>
              </a:rPr>
              <a:t>: Tự động nhận diện và sao lưu các dữ liệu quan trọng, bao gồm cả các ứng dụng như Microsoft Exchange, SQL Server, SharePoint, v.v.</a:t>
            </a:r>
          </a:p>
          <a:p>
            <a:pPr algn="l">
              <a:buFont typeface="+mj-lt"/>
              <a:buAutoNum type="arabicPeriod"/>
            </a:pPr>
            <a:r>
              <a:rPr lang="vi-VN" b="1" i="0" dirty="0">
                <a:solidFill>
                  <a:srgbClr val="0D0D0D"/>
                </a:solidFill>
                <a:effectLst/>
                <a:latin typeface="Söhne"/>
              </a:rPr>
              <a:t>Khôi phục (Restore)</a:t>
            </a:r>
            <a:r>
              <a:rPr lang="vi-VN" b="0" i="0" dirty="0">
                <a:solidFill>
                  <a:srgbClr val="0D0D0D"/>
                </a:solidFill>
                <a:effectLst/>
                <a:latin typeface="Söhne"/>
              </a:rPr>
              <a:t>:</a:t>
            </a:r>
          </a:p>
          <a:p>
            <a:pPr marL="742950" lvl="1" indent="-285750" algn="l">
              <a:buFont typeface="+mj-lt"/>
              <a:buAutoNum type="arabicPeriod"/>
            </a:pPr>
            <a:r>
              <a:rPr lang="vi-VN" b="1" i="0" dirty="0">
                <a:solidFill>
                  <a:srgbClr val="0D0D0D"/>
                </a:solidFill>
                <a:effectLst/>
                <a:latin typeface="Söhne"/>
              </a:rPr>
              <a:t>Instant VM Recovery</a:t>
            </a:r>
            <a:r>
              <a:rPr lang="vi-VN" b="0" i="0" dirty="0">
                <a:solidFill>
                  <a:srgbClr val="0D0D0D"/>
                </a:solidFill>
                <a:effectLst/>
                <a:latin typeface="Söhne"/>
              </a:rPr>
              <a:t>: Khôi phục máy ảo ngay lập tức từ các bản sao lưu, giúp giảm thiểu thời gian ngừng hoạt động.</a:t>
            </a:r>
          </a:p>
          <a:p>
            <a:pPr marL="742950" lvl="1" indent="-285750" algn="l">
              <a:buFont typeface="+mj-lt"/>
              <a:buAutoNum type="arabicPeriod"/>
            </a:pPr>
            <a:r>
              <a:rPr lang="vi-VN" b="1" i="0" dirty="0">
                <a:solidFill>
                  <a:srgbClr val="0D0D0D"/>
                </a:solidFill>
                <a:effectLst/>
                <a:latin typeface="Söhne"/>
              </a:rPr>
              <a:t>Khôi phục tệp và ứng dụng</a:t>
            </a:r>
            <a:r>
              <a:rPr lang="vi-VN" b="0" i="0" dirty="0">
                <a:solidFill>
                  <a:srgbClr val="0D0D0D"/>
                </a:solidFill>
                <a:effectLst/>
                <a:latin typeface="Söhne"/>
              </a:rPr>
              <a:t>: Khả năng khôi phục từng tệp đơn lẻ hoặc các mục cụ thể từ các ứng dụng (ví dụ: email từ Microsoft Exchange).</a:t>
            </a:r>
          </a:p>
          <a:p>
            <a:pPr marL="742950" lvl="1" indent="-285750" algn="l">
              <a:buFont typeface="+mj-lt"/>
              <a:buAutoNum type="arabicPeriod"/>
            </a:pPr>
            <a:r>
              <a:rPr lang="vi-VN" b="1" i="0" dirty="0">
                <a:solidFill>
                  <a:srgbClr val="0D0D0D"/>
                </a:solidFill>
                <a:effectLst/>
                <a:latin typeface="Söhne"/>
              </a:rPr>
              <a:t>Khôi phục toàn bộ hệ thống</a:t>
            </a:r>
            <a:r>
              <a:rPr lang="vi-VN" b="0" i="0" dirty="0">
                <a:solidFill>
                  <a:srgbClr val="0D0D0D"/>
                </a:solidFill>
                <a:effectLst/>
                <a:latin typeface="Söhne"/>
              </a:rPr>
              <a:t>: Khôi phục toàn bộ máy ảo hoặc máy chủ vật lý.</a:t>
            </a:r>
          </a:p>
          <a:p>
            <a:pPr algn="l">
              <a:buFont typeface="+mj-lt"/>
              <a:buAutoNum type="arabicPeriod"/>
            </a:pPr>
            <a:r>
              <a:rPr lang="vi-VN" b="1" i="0" dirty="0">
                <a:solidFill>
                  <a:srgbClr val="0D0D0D"/>
                </a:solidFill>
                <a:effectLst/>
                <a:latin typeface="Söhne"/>
              </a:rPr>
              <a:t>Sao chép (Replication)</a:t>
            </a:r>
            <a:r>
              <a:rPr lang="vi-VN" b="0" i="0" dirty="0">
                <a:solidFill>
                  <a:srgbClr val="0D0D0D"/>
                </a:solidFill>
                <a:effectLst/>
                <a:latin typeface="Söhne"/>
              </a:rPr>
              <a:t>:</a:t>
            </a:r>
          </a:p>
          <a:p>
            <a:pPr marL="742950" lvl="1" indent="-285750" algn="l">
              <a:buFont typeface="+mj-lt"/>
              <a:buAutoNum type="arabicPeriod"/>
            </a:pPr>
            <a:r>
              <a:rPr lang="vi-VN" b="1" i="0" dirty="0">
                <a:solidFill>
                  <a:srgbClr val="0D0D0D"/>
                </a:solidFill>
                <a:effectLst/>
                <a:latin typeface="Söhne"/>
              </a:rPr>
              <a:t>Replication theo thời gian thực</a:t>
            </a:r>
            <a:r>
              <a:rPr lang="vi-VN" b="0" i="0" dirty="0">
                <a:solidFill>
                  <a:srgbClr val="0D0D0D"/>
                </a:solidFill>
                <a:effectLst/>
                <a:latin typeface="Söhne"/>
              </a:rPr>
              <a:t>: Sao chép các máy ảo đến một địa điểm khác để đảm bảo tính sẵn sàng và khôi phục sau thảm họa.</a:t>
            </a:r>
          </a:p>
          <a:p>
            <a:pPr marL="742950" lvl="1" indent="-285750" algn="l">
              <a:buFont typeface="+mj-lt"/>
              <a:buAutoNum type="arabicPeriod"/>
            </a:pPr>
            <a:r>
              <a:rPr lang="vi-VN" b="1" i="0" dirty="0">
                <a:solidFill>
                  <a:srgbClr val="0D0D0D"/>
                </a:solidFill>
                <a:effectLst/>
                <a:latin typeface="Söhne"/>
              </a:rPr>
              <a:t>Failover và Failback</a:t>
            </a:r>
            <a:r>
              <a:rPr lang="vi-VN" b="0" i="0" dirty="0">
                <a:solidFill>
                  <a:srgbClr val="0D0D0D"/>
                </a:solidFill>
                <a:effectLst/>
                <a:latin typeface="Söhne"/>
              </a:rPr>
              <a:t>: Tính năng tự động chuyển đổi (failover) sang các bản sao lưu khi có sự cố và chuyển lại (failback) khi hệ thống chính đã được khôi phục.</a:t>
            </a:r>
          </a:p>
          <a:p>
            <a:pPr algn="l">
              <a:buFont typeface="+mj-lt"/>
              <a:buAutoNum type="arabicPeriod"/>
            </a:pPr>
            <a:r>
              <a:rPr lang="vi-VN" b="1" i="0" dirty="0">
                <a:solidFill>
                  <a:srgbClr val="0D0D0D"/>
                </a:solidFill>
                <a:effectLst/>
                <a:latin typeface="Söhne"/>
              </a:rPr>
              <a:t>Khả năng mở rộng và tích hợp</a:t>
            </a:r>
            <a:r>
              <a:rPr lang="vi-VN" b="0" i="0" dirty="0">
                <a:solidFill>
                  <a:srgbClr val="0D0D0D"/>
                </a:solidFill>
                <a:effectLst/>
                <a:latin typeface="Söhne"/>
              </a:rPr>
              <a:t>:</a:t>
            </a:r>
          </a:p>
          <a:p>
            <a:pPr marL="742950" lvl="1" indent="-285750" algn="l">
              <a:buFont typeface="+mj-lt"/>
              <a:buAutoNum type="arabicPeriod"/>
            </a:pPr>
            <a:r>
              <a:rPr lang="vi-VN" b="1" i="0" dirty="0">
                <a:solidFill>
                  <a:srgbClr val="0D0D0D"/>
                </a:solidFill>
                <a:effectLst/>
                <a:latin typeface="Söhne"/>
              </a:rPr>
              <a:t>Tích hợp với các nền tảng ảo hóa</a:t>
            </a:r>
            <a:r>
              <a:rPr lang="vi-VN" b="0" i="0" dirty="0">
                <a:solidFill>
                  <a:srgbClr val="0D0D0D"/>
                </a:solidFill>
                <a:effectLst/>
                <a:latin typeface="Söhne"/>
              </a:rPr>
              <a:t>: Hỗ trợ VMware vSphere, Microsoft Hyper-V, và các nền tảng ảo hóa khác.</a:t>
            </a:r>
          </a:p>
          <a:p>
            <a:pPr marL="742950" lvl="1" indent="-285750" algn="l">
              <a:buFont typeface="+mj-lt"/>
              <a:buAutoNum type="arabicPeriod"/>
            </a:pPr>
            <a:r>
              <a:rPr lang="vi-VN" b="1" i="0" dirty="0">
                <a:solidFill>
                  <a:srgbClr val="0D0D0D"/>
                </a:solidFill>
                <a:effectLst/>
                <a:latin typeface="Söhne"/>
              </a:rPr>
              <a:t>Hỗ trợ đám mây</a:t>
            </a:r>
            <a:r>
              <a:rPr lang="vi-VN" b="0" i="0" dirty="0">
                <a:solidFill>
                  <a:srgbClr val="0D0D0D"/>
                </a:solidFill>
                <a:effectLst/>
                <a:latin typeface="Söhne"/>
              </a:rPr>
              <a:t>: Tích hợp với các dịch vụ lưu trữ đám mây như Amazon AWS, Microsoft Azure, và các nhà cung cấp đám mây khác.</a:t>
            </a:r>
          </a:p>
          <a:p>
            <a:pPr algn="l">
              <a:buFont typeface="+mj-lt"/>
              <a:buAutoNum type="arabicPeriod"/>
            </a:pPr>
            <a:r>
              <a:rPr lang="vi-VN" b="1" i="0" dirty="0">
                <a:solidFill>
                  <a:srgbClr val="0D0D0D"/>
                </a:solidFill>
                <a:effectLst/>
                <a:latin typeface="Söhne"/>
              </a:rPr>
              <a:t>Quản lý và giám sát</a:t>
            </a:r>
            <a:r>
              <a:rPr lang="vi-VN" b="0" i="0" dirty="0">
                <a:solidFill>
                  <a:srgbClr val="0D0D0D"/>
                </a:solidFill>
                <a:effectLst/>
                <a:latin typeface="Söhne"/>
              </a:rPr>
              <a:t>:</a:t>
            </a:r>
          </a:p>
          <a:p>
            <a:pPr marL="742950" lvl="1" indent="-285750" algn="l">
              <a:buFont typeface="+mj-lt"/>
              <a:buAutoNum type="arabicPeriod"/>
            </a:pPr>
            <a:r>
              <a:rPr lang="vi-VN" b="1" i="0" dirty="0">
                <a:solidFill>
                  <a:srgbClr val="0D0D0D"/>
                </a:solidFill>
                <a:effectLst/>
                <a:latin typeface="Söhne"/>
              </a:rPr>
              <a:t>Giao diện quản lý tập trung</a:t>
            </a:r>
            <a:r>
              <a:rPr lang="vi-VN" b="0" i="0" dirty="0">
                <a:solidFill>
                  <a:srgbClr val="0D0D0D"/>
                </a:solidFill>
                <a:effectLst/>
                <a:latin typeface="Söhne"/>
              </a:rPr>
              <a:t>: Quản lý toàn bộ hoạt động sao lưu và khôi phục từ một giao diện duy nhất.</a:t>
            </a:r>
          </a:p>
          <a:p>
            <a:pPr marL="742950" lvl="1" indent="-285750" algn="l">
              <a:buFont typeface="+mj-lt"/>
              <a:buAutoNum type="arabicPeriod"/>
            </a:pPr>
            <a:r>
              <a:rPr lang="vi-VN" b="1" i="0" dirty="0">
                <a:solidFill>
                  <a:srgbClr val="0D0D0D"/>
                </a:solidFill>
                <a:effectLst/>
                <a:latin typeface="Söhne"/>
              </a:rPr>
              <a:t>Báo cáo và giám sát</a:t>
            </a:r>
            <a:r>
              <a:rPr lang="vi-VN" b="0" i="0" dirty="0">
                <a:solidFill>
                  <a:srgbClr val="0D0D0D"/>
                </a:solidFill>
                <a:effectLst/>
                <a:latin typeface="Söhne"/>
              </a:rPr>
              <a:t>: Cung cấp các báo cáo chi tiết và công cụ giám sát để theo dõi tình trạng sao lưu và hiệu suất hệ thống.</a:t>
            </a:r>
          </a:p>
          <a:p>
            <a:pPr algn="l"/>
            <a:r>
              <a:rPr lang="vi-VN" b="1" i="0" dirty="0">
                <a:solidFill>
                  <a:srgbClr val="0D0D0D"/>
                </a:solidFill>
                <a:effectLst/>
                <a:latin typeface="Söhne"/>
              </a:rPr>
              <a:t>Lợi ích của Veeam Backup &amp; Replication:</a:t>
            </a:r>
          </a:p>
          <a:p>
            <a:pPr algn="l">
              <a:buFont typeface="Arial" panose="020B0604020202020204" pitchFamily="34" charset="0"/>
              <a:buChar char="•"/>
            </a:pPr>
            <a:r>
              <a:rPr lang="vi-VN" b="1" i="0" dirty="0">
                <a:solidFill>
                  <a:srgbClr val="0D0D0D"/>
                </a:solidFill>
                <a:effectLst/>
                <a:latin typeface="Söhne"/>
              </a:rPr>
              <a:t>Đảm bảo tính sẵn sàng của dữ liệu</a:t>
            </a:r>
            <a:r>
              <a:rPr lang="vi-VN" b="0" i="0" dirty="0">
                <a:solidFill>
                  <a:srgbClr val="0D0D0D"/>
                </a:solidFill>
                <a:effectLst/>
                <a:latin typeface="Söhne"/>
              </a:rPr>
              <a:t>: Giúp doanh nghiệp bảo vệ dữ liệu quan trọng và đảm bảo rằng dữ liệu luôn sẵn sàng khi cần.</a:t>
            </a:r>
          </a:p>
          <a:p>
            <a:pPr algn="l">
              <a:buFont typeface="Arial" panose="020B0604020202020204" pitchFamily="34" charset="0"/>
              <a:buChar char="•"/>
            </a:pPr>
            <a:r>
              <a:rPr lang="vi-VN" b="1" i="0" dirty="0">
                <a:solidFill>
                  <a:srgbClr val="0D0D0D"/>
                </a:solidFill>
                <a:effectLst/>
                <a:latin typeface="Söhne"/>
              </a:rPr>
              <a:t>Giảm thiểu thời gian ngừng hoạt động</a:t>
            </a:r>
            <a:r>
              <a:rPr lang="vi-VN" b="0" i="0" dirty="0">
                <a:solidFill>
                  <a:srgbClr val="0D0D0D"/>
                </a:solidFill>
                <a:effectLst/>
                <a:latin typeface="Söhne"/>
              </a:rPr>
              <a:t>: Với khả năng khôi phục nhanh chóng, doanh nghiệp có thể giảm thiểu thời gian ngừng hoạt động do sự cố.</a:t>
            </a:r>
          </a:p>
          <a:p>
            <a:pPr algn="l">
              <a:buFont typeface="Arial" panose="020B0604020202020204" pitchFamily="34" charset="0"/>
              <a:buChar char="•"/>
            </a:pPr>
            <a:r>
              <a:rPr lang="vi-VN" b="1" i="0" dirty="0">
                <a:solidFill>
                  <a:srgbClr val="0D0D0D"/>
                </a:solidFill>
                <a:effectLst/>
                <a:latin typeface="Söhne"/>
              </a:rPr>
              <a:t>Tối ưu hóa chi phí</a:t>
            </a:r>
            <a:r>
              <a:rPr lang="vi-VN" b="0" i="0" dirty="0">
                <a:solidFill>
                  <a:srgbClr val="0D0D0D"/>
                </a:solidFill>
                <a:effectLst/>
                <a:latin typeface="Söhne"/>
              </a:rPr>
              <a:t>: Các tính năng sao lưu gia tăng và quản lý lưu trữ giúp tiết kiệm dung lượng lưu trữ và giảm chi phí.</a:t>
            </a:r>
          </a:p>
          <a:p>
            <a:pPr algn="l">
              <a:buFont typeface="Arial" panose="020B0604020202020204" pitchFamily="34" charset="0"/>
              <a:buChar char="•"/>
            </a:pPr>
            <a:r>
              <a:rPr lang="vi-VN" b="1" i="0" dirty="0">
                <a:solidFill>
                  <a:srgbClr val="0D0D0D"/>
                </a:solidFill>
                <a:effectLst/>
                <a:latin typeface="Söhne"/>
              </a:rPr>
              <a:t>Bảo mật dữ liệu</a:t>
            </a:r>
            <a:r>
              <a:rPr lang="vi-VN" b="0" i="0" dirty="0">
                <a:solidFill>
                  <a:srgbClr val="0D0D0D"/>
                </a:solidFill>
                <a:effectLst/>
                <a:latin typeface="Söhne"/>
              </a:rPr>
              <a:t>: Các cơ chế mã hóa và bảo vệ dữ liệu giúp đảm bảo rằng dữ liệu sao lưu luôn an toàn và bảo mật.</a:t>
            </a:r>
            <a:endParaRPr lang="en-US" b="0" i="0" dirty="0">
              <a:solidFill>
                <a:srgbClr val="0D0D0D"/>
              </a:solidFill>
              <a:effectLst/>
              <a:latin typeface="Söhne"/>
            </a:endParaRP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endParaRPr lang="vi-VN" b="0" i="0" dirty="0">
              <a:solidFill>
                <a:srgbClr val="0D0D0D"/>
              </a:solidFill>
              <a:effectLst/>
              <a:latin typeface="Söhne"/>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47292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fbfd641b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fbfd641b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571500" indent="-571500">
              <a:buFont typeface="Wingdings" panose="05000000000000000000" pitchFamily="2" charset="2"/>
              <a:buChar char="Ø"/>
            </a:pPr>
            <a:endParaRPr lang="en-US" sz="11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Hiệu suất cải thiện: </a:t>
            </a:r>
            <a:r>
              <a:rPr lang="vi-VN" sz="1100" dirty="0">
                <a:latin typeface="Times New Roman" panose="02020603050405020304" pitchFamily="18" charset="0"/>
                <a:cs typeface="Times New Roman" panose="02020603050405020304" pitchFamily="18" charset="0"/>
              </a:rPr>
              <a:t>Hệ thống mới giúp tăng hiệu suất xử lý công việc, giảm thời gian phản hồi của các ứng dụng và dịch vụ nhờ vào việc phân phối tài nguyên hiệu quả hơn.</a:t>
            </a:r>
            <a:endParaRPr lang="en-US" sz="11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Tăng tính sẵn sàng và độ tin cậy: </a:t>
            </a:r>
            <a:r>
              <a:rPr lang="vi-VN" sz="1100" dirty="0">
                <a:latin typeface="Times New Roman" panose="02020603050405020304" pitchFamily="18" charset="0"/>
                <a:cs typeface="Times New Roman" panose="02020603050405020304" pitchFamily="18" charset="0"/>
              </a:rPr>
              <a:t>Nhờ tính năng High Availability (HA) và Fault Tolerance (FT)</a:t>
            </a:r>
            <a:r>
              <a:rPr lang="en-US" sz="1100" dirty="0">
                <a:latin typeface="Times New Roman" panose="02020603050405020304" pitchFamily="18" charset="0"/>
                <a:cs typeface="Times New Roman" panose="02020603050405020304" pitchFamily="18" charset="0"/>
              </a:rPr>
              <a:t>, DRS</a:t>
            </a:r>
            <a:r>
              <a:rPr lang="vi-VN" sz="1100" dirty="0">
                <a:latin typeface="Times New Roman" panose="02020603050405020304" pitchFamily="18" charset="0"/>
                <a:cs typeface="Times New Roman" panose="02020603050405020304" pitchFamily="18" charset="0"/>
              </a:rPr>
              <a:t> của VMware vSphere, hệ thống đảm bảo tính sẵn sàng cao, giảm thiểu thời gian downtime và tăng cường độ tin cậy.</a:t>
            </a:r>
            <a:endParaRPr lang="en-US" sz="11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Quản lý dễ dàng và hiệu quả: </a:t>
            </a:r>
            <a:r>
              <a:rPr lang="vi-VN" sz="1100" dirty="0">
                <a:latin typeface="Times New Roman" panose="02020603050405020304" pitchFamily="18" charset="0"/>
                <a:cs typeface="Times New Roman" panose="02020603050405020304" pitchFamily="18" charset="0"/>
              </a:rPr>
              <a:t>Quản lý hệ thống trở nên dễ dàng hơn với giao diện tập trung của vCenter Server, giúp tiết kiệm thời gian và công sức trong việc giám sát, quản lý và cấu hình các máy ảo.</a:t>
            </a:r>
            <a:endParaRPr lang="en-US" sz="11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Tiết kiệm chi phí: </a:t>
            </a:r>
            <a:r>
              <a:rPr lang="vi-VN" sz="1100" dirty="0">
                <a:latin typeface="Times New Roman" panose="02020603050405020304" pitchFamily="18" charset="0"/>
                <a:cs typeface="Times New Roman" panose="02020603050405020304" pitchFamily="18" charset="0"/>
              </a:rPr>
              <a:t>Dù chi phí đầu tư ban đầu cao, công ty đã tiết kiệm được nhiều chi phí vận hành, bảo trì, điện năng và làm mát về lâu dài nhờ giảm số lượng server vật lý.</a:t>
            </a:r>
            <a:endParaRPr lang="en-US" sz="11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1100" dirty="0">
                <a:latin typeface="Times New Roman" panose="02020603050405020304" pitchFamily="18" charset="0"/>
                <a:cs typeface="Times New Roman" panose="02020603050405020304" pitchFamily="18" charset="0"/>
              </a:rPr>
              <a:t>Nâng cao khả năng mở rộng: </a:t>
            </a:r>
            <a:r>
              <a:rPr lang="vi-VN" sz="1100" dirty="0">
                <a:latin typeface="Times New Roman" panose="02020603050405020304" pitchFamily="18" charset="0"/>
                <a:cs typeface="Times New Roman" panose="02020603050405020304" pitchFamily="18" charset="0"/>
              </a:rPr>
              <a:t>Hệ thống cho phép mở rộng dễ dàng khi nhu cầu kinh doanh tăng cao, giúp công ty linh hoạt trong việc đáp ứng các nhu cầu mới mà không cần thay đổi cơ sở hạ tầng vật lý.</a:t>
            </a:r>
          </a:p>
          <a:p>
            <a:pPr marL="571500" indent="-571500">
              <a:buFont typeface="Wingdings" panose="05000000000000000000" pitchFamily="2" charset="2"/>
              <a:buChar char="Ø"/>
            </a:pPr>
            <a:r>
              <a:rPr lang="vi-VN" sz="1100" dirty="0">
                <a:latin typeface="Times New Roman" panose="02020603050405020304" pitchFamily="18" charset="0"/>
                <a:cs typeface="Times New Roman" panose="02020603050405020304" pitchFamily="18" charset="0"/>
              </a:rPr>
              <a:t>Tăng cường bảo mật</a:t>
            </a:r>
            <a:r>
              <a:rPr lang="en-US" sz="1100" dirty="0">
                <a:latin typeface="Times New Roman" panose="02020603050405020304" pitchFamily="18" charset="0"/>
                <a:cs typeface="Times New Roman" panose="02020603050405020304" pitchFamily="18" charset="0"/>
              </a:rPr>
              <a:t>: </a:t>
            </a:r>
            <a:r>
              <a:rPr lang="vi-VN" sz="1100" dirty="0">
                <a:latin typeface="Times New Roman" panose="02020603050405020304" pitchFamily="18" charset="0"/>
                <a:cs typeface="Times New Roman" panose="02020603050405020304" pitchFamily="18" charset="0"/>
              </a:rPr>
              <a:t>Việc cô lập các ứng dụng và dịch vụ trên các máy ảo giúp tăng cường bảo mật, giảm thiểu rủi ro lây lan của các cuộc tấn công.</a:t>
            </a:r>
            <a:endParaRPr lang="en-US" sz="1100" dirty="0">
              <a:latin typeface="Times New Roman" panose="02020603050405020304" pitchFamily="18" charset="0"/>
              <a:cs typeface="Times New Roman" panose="02020603050405020304" pitchFamily="18" charset="0"/>
            </a:endParaRPr>
          </a:p>
          <a:p>
            <a:pPr algn="l"/>
            <a:r>
              <a:rPr lang="vi-VN" b="1" i="0" dirty="0">
                <a:solidFill>
                  <a:srgbClr val="0D0D0D"/>
                </a:solidFill>
                <a:effectLst/>
                <a:latin typeface="ui-sans-serif"/>
              </a:rPr>
              <a:t>Phát triển Kỹ năng Chuyên môn</a:t>
            </a:r>
          </a:p>
          <a:p>
            <a:pPr algn="l"/>
            <a:r>
              <a:rPr lang="vi-VN" b="0" i="0" dirty="0">
                <a:solidFill>
                  <a:srgbClr val="0D0D0D"/>
                </a:solidFill>
                <a:effectLst/>
                <a:latin typeface="ui-sans-serif"/>
              </a:rPr>
              <a:t>Hoàn thành dự án đã giúp tôi nâng cao kiến thức và kỹ năng về công nghệ ảo hóa, đặc biệt là các tính năng của VMware vSphere như vSAN, vSphere HA, DRS, và Fault Tolerance. Tôi đã hiểu sâu hơn về cách triển khai và quản lý một hệ thống ảo hóa hiệu quả.</a:t>
            </a:r>
          </a:p>
          <a:p>
            <a:pPr algn="l"/>
            <a:r>
              <a:rPr lang="vi-VN" b="1" i="0" dirty="0">
                <a:solidFill>
                  <a:srgbClr val="0D0D0D"/>
                </a:solidFill>
                <a:effectLst/>
                <a:latin typeface="ui-sans-serif"/>
              </a:rPr>
              <a:t>Kinh nghiệm Thực tiễn</a:t>
            </a:r>
          </a:p>
          <a:p>
            <a:pPr algn="l"/>
            <a:r>
              <a:rPr lang="vi-VN" b="0" i="0" dirty="0">
                <a:solidFill>
                  <a:srgbClr val="0D0D0D"/>
                </a:solidFill>
                <a:effectLst/>
                <a:latin typeface="ui-sans-serif"/>
              </a:rPr>
              <a:t>Thông qua việc triển khai dự án, tôi có cơ hội áp dụng lý thuyết vào thực tiễn, giải quyết các vấn đề phát sinh và tối ưu hóa hệ thống. Điều này đã giúp tôi tích lũy kinh nghiệm quý báu trong việc quản lý hạ tầng IT.</a:t>
            </a:r>
          </a:p>
          <a:p>
            <a:pPr algn="l"/>
            <a:r>
              <a:rPr lang="vi-VN" b="1" i="0" dirty="0">
                <a:solidFill>
                  <a:srgbClr val="0D0D0D"/>
                </a:solidFill>
                <a:effectLst/>
                <a:latin typeface="ui-sans-serif"/>
              </a:rPr>
              <a:t>Kỹ năng Giải quyết Vấn đề</a:t>
            </a:r>
          </a:p>
          <a:p>
            <a:pPr algn="l"/>
            <a:r>
              <a:rPr lang="vi-VN" b="0" i="0" dirty="0">
                <a:solidFill>
                  <a:srgbClr val="0D0D0D"/>
                </a:solidFill>
                <a:effectLst/>
                <a:latin typeface="ui-sans-serif"/>
              </a:rPr>
              <a:t>Đối mặt với các thách thức và hạn chế trong quá trình thực hiện dự án, tôi đã phát triển kỹ năng giải quyết vấn đề một cách hiệu quả. Tôi đã học cách phân tích và tìm ra các giải pháp tối ưu để khắc phục các vấn đề kỹ thuật.</a:t>
            </a:r>
            <a:endParaRPr lang="en-US" b="0" i="0" dirty="0">
              <a:solidFill>
                <a:srgbClr val="0D0D0D"/>
              </a:solidFill>
              <a:effectLst/>
              <a:latin typeface="ui-sans-serif"/>
            </a:endParaRPr>
          </a:p>
          <a:p>
            <a:pPr algn="l"/>
            <a:r>
              <a:rPr lang="en-US" b="1" i="0" dirty="0">
                <a:solidFill>
                  <a:srgbClr val="0D0D0D"/>
                </a:solidFill>
                <a:effectLst/>
                <a:latin typeface="ui-sans-serif"/>
              </a:rPr>
              <a:t>Nâng cao Kỹ năng Quản lý Dự án</a:t>
            </a:r>
          </a:p>
          <a:p>
            <a:pPr algn="l"/>
            <a:r>
              <a:rPr lang="en-US" b="0" i="0" dirty="0">
                <a:solidFill>
                  <a:srgbClr val="0D0D0D"/>
                </a:solidFill>
                <a:effectLst/>
                <a:latin typeface="ui-sans-serif"/>
              </a:rPr>
              <a:t>Quản lý thời gian, tài nguyên và công việc trong dự án giúp tôi cải thiện kỹ năng quản lý dự án. Tôi đã học cách lập kế hoạch, theo dõi tiến độ và đảm bảo dự án hoàn thành đúng hạn.</a:t>
            </a:r>
          </a:p>
          <a:p>
            <a:pPr algn="l"/>
            <a:endParaRPr lang="vi-VN" b="0" i="0" dirty="0">
              <a:solidFill>
                <a:srgbClr val="0D0D0D"/>
              </a:solidFill>
              <a:effectLst/>
              <a:latin typeface="ui-sans-serif"/>
            </a:endParaRPr>
          </a:p>
          <a:p>
            <a:pPr marL="571500" indent="-571500">
              <a:buFont typeface="Wingdings" panose="05000000000000000000" pitchFamily="2" charset="2"/>
              <a:buChar char="Ø"/>
            </a:pPr>
            <a:endParaRPr lang="vi-VN" sz="11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225867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a:xfrm>
            <a:off x="381000" y="685800"/>
            <a:ext cx="6096000" cy="3429000"/>
          </a:xfrm>
        </p:spPr>
      </p:sp>
      <p:sp>
        <p:nvSpPr>
          <p:cNvPr id="3" name="Chỗ dành sẵn cho Ghi chú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37852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02375" y="867300"/>
            <a:ext cx="3838500" cy="2615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2"/>
              </a:buClr>
              <a:buSzPts val="6000"/>
              <a:buNone/>
              <a:defRPr sz="6000"/>
            </a:lvl1pPr>
            <a:lvl2pPr lvl="1" algn="ctr">
              <a:spcBef>
                <a:spcPts val="0"/>
              </a:spcBef>
              <a:spcAft>
                <a:spcPts val="0"/>
              </a:spcAft>
              <a:buClr>
                <a:schemeClr val="lt2"/>
              </a:buClr>
              <a:buSzPts val="6000"/>
              <a:buNone/>
              <a:defRPr sz="6000">
                <a:solidFill>
                  <a:schemeClr val="lt2"/>
                </a:solidFill>
              </a:defRPr>
            </a:lvl2pPr>
            <a:lvl3pPr lvl="2" algn="ctr">
              <a:spcBef>
                <a:spcPts val="0"/>
              </a:spcBef>
              <a:spcAft>
                <a:spcPts val="0"/>
              </a:spcAft>
              <a:buClr>
                <a:schemeClr val="lt2"/>
              </a:buClr>
              <a:buSzPts val="6000"/>
              <a:buNone/>
              <a:defRPr sz="6000">
                <a:solidFill>
                  <a:schemeClr val="lt2"/>
                </a:solidFill>
              </a:defRPr>
            </a:lvl3pPr>
            <a:lvl4pPr lvl="3" algn="ctr">
              <a:spcBef>
                <a:spcPts val="0"/>
              </a:spcBef>
              <a:spcAft>
                <a:spcPts val="0"/>
              </a:spcAft>
              <a:buClr>
                <a:schemeClr val="lt2"/>
              </a:buClr>
              <a:buSzPts val="6000"/>
              <a:buNone/>
              <a:defRPr sz="6000">
                <a:solidFill>
                  <a:schemeClr val="lt2"/>
                </a:solidFill>
              </a:defRPr>
            </a:lvl4pPr>
            <a:lvl5pPr lvl="4" algn="ctr">
              <a:spcBef>
                <a:spcPts val="0"/>
              </a:spcBef>
              <a:spcAft>
                <a:spcPts val="0"/>
              </a:spcAft>
              <a:buClr>
                <a:schemeClr val="lt2"/>
              </a:buClr>
              <a:buSzPts val="6000"/>
              <a:buNone/>
              <a:defRPr sz="6000">
                <a:solidFill>
                  <a:schemeClr val="lt2"/>
                </a:solidFill>
              </a:defRPr>
            </a:lvl5pPr>
            <a:lvl6pPr lvl="5" algn="ctr">
              <a:spcBef>
                <a:spcPts val="0"/>
              </a:spcBef>
              <a:spcAft>
                <a:spcPts val="0"/>
              </a:spcAft>
              <a:buClr>
                <a:schemeClr val="lt2"/>
              </a:buClr>
              <a:buSzPts val="6000"/>
              <a:buNone/>
              <a:defRPr sz="6000">
                <a:solidFill>
                  <a:schemeClr val="lt2"/>
                </a:solidFill>
              </a:defRPr>
            </a:lvl6pPr>
            <a:lvl7pPr lvl="6" algn="ctr">
              <a:spcBef>
                <a:spcPts val="0"/>
              </a:spcBef>
              <a:spcAft>
                <a:spcPts val="0"/>
              </a:spcAft>
              <a:buClr>
                <a:schemeClr val="lt2"/>
              </a:buClr>
              <a:buSzPts val="6000"/>
              <a:buNone/>
              <a:defRPr sz="6000">
                <a:solidFill>
                  <a:schemeClr val="lt2"/>
                </a:solidFill>
              </a:defRPr>
            </a:lvl7pPr>
            <a:lvl8pPr lvl="7" algn="ctr">
              <a:spcBef>
                <a:spcPts val="0"/>
              </a:spcBef>
              <a:spcAft>
                <a:spcPts val="0"/>
              </a:spcAft>
              <a:buClr>
                <a:schemeClr val="lt2"/>
              </a:buClr>
              <a:buSzPts val="6000"/>
              <a:buNone/>
              <a:defRPr sz="6000">
                <a:solidFill>
                  <a:schemeClr val="lt2"/>
                </a:solidFill>
              </a:defRPr>
            </a:lvl8pPr>
            <a:lvl9pPr lvl="8" algn="ctr">
              <a:spcBef>
                <a:spcPts val="0"/>
              </a:spcBef>
              <a:spcAft>
                <a:spcPts val="0"/>
              </a:spcAft>
              <a:buClr>
                <a:schemeClr val="lt2"/>
              </a:buClr>
              <a:buSzPts val="6000"/>
              <a:buNone/>
              <a:defRPr sz="6000">
                <a:solidFill>
                  <a:schemeClr val="lt2"/>
                </a:solidFill>
              </a:defRPr>
            </a:lvl9pPr>
          </a:lstStyle>
          <a:p>
            <a:endParaRPr/>
          </a:p>
        </p:txBody>
      </p:sp>
      <p:sp>
        <p:nvSpPr>
          <p:cNvPr id="10" name="Google Shape;10;p2"/>
          <p:cNvSpPr txBox="1">
            <a:spLocks noGrp="1"/>
          </p:cNvSpPr>
          <p:nvPr>
            <p:ph type="subTitle" idx="1"/>
          </p:nvPr>
        </p:nvSpPr>
        <p:spPr>
          <a:xfrm>
            <a:off x="902375" y="3707647"/>
            <a:ext cx="2805300" cy="540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lt2"/>
              </a:buClr>
              <a:buSzPts val="1600"/>
              <a:buFont typeface="Roboto"/>
              <a:buNone/>
              <a:defRPr>
                <a:solidFill>
                  <a:schemeClr val="dk1"/>
                </a:solidFill>
                <a:latin typeface="Roboto"/>
                <a:ea typeface="Roboto"/>
                <a:cs typeface="Roboto"/>
                <a:sym typeface="Roboto"/>
              </a:defRPr>
            </a:lvl1pPr>
            <a:lvl2pPr lvl="1"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2pPr>
            <a:lvl3pPr lvl="2"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3pPr>
            <a:lvl4pPr lvl="3"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4pPr>
            <a:lvl5pPr lvl="4"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5pPr>
            <a:lvl6pPr lvl="5"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6pPr>
            <a:lvl7pPr lvl="6"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7pPr>
            <a:lvl8pPr lvl="7"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8pPr>
            <a:lvl9pPr lvl="8" algn="ctr">
              <a:lnSpc>
                <a:spcPct val="100000"/>
              </a:lnSpc>
              <a:spcBef>
                <a:spcPts val="0"/>
              </a:spcBef>
              <a:spcAft>
                <a:spcPts val="0"/>
              </a:spcAft>
              <a:buClr>
                <a:schemeClr val="lt2"/>
              </a:buClr>
              <a:buSzPts val="1600"/>
              <a:buFont typeface="Roboto"/>
              <a:buNone/>
              <a:defRPr>
                <a:solidFill>
                  <a:schemeClr val="lt2"/>
                </a:solidFill>
                <a:latin typeface="Roboto"/>
                <a:ea typeface="Roboto"/>
                <a:cs typeface="Roboto"/>
                <a:sym typeface="Roboto"/>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1098000" y="875375"/>
            <a:ext cx="3075900" cy="13476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36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1098000" y="2205275"/>
            <a:ext cx="3075900" cy="11349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 name="Google Shape;38;p9"/>
          <p:cNvSpPr/>
          <p:nvPr/>
        </p:nvSpPr>
        <p:spPr>
          <a:xfrm>
            <a:off x="0" y="4926300"/>
            <a:ext cx="9144000" cy="217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612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1pPr>
            <a:lvl2pPr lvl="1">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2pPr>
            <a:lvl3pPr lvl="2">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3pPr>
            <a:lvl4pPr lvl="3">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4pPr>
            <a:lvl5pPr lvl="4">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5pPr>
            <a:lvl6pPr lvl="5">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6pPr>
            <a:lvl7pPr lvl="6">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7pPr>
            <a:lvl8pPr lvl="7">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8pPr>
            <a:lvl9pPr lvl="8">
              <a:spcBef>
                <a:spcPts val="0"/>
              </a:spcBef>
              <a:spcAft>
                <a:spcPts val="0"/>
              </a:spcAft>
              <a:buClr>
                <a:schemeClr val="dk1"/>
              </a:buClr>
              <a:buSzPts val="3600"/>
              <a:buFont typeface="Source Code Pro Black"/>
              <a:buNone/>
              <a:defRPr sz="3600">
                <a:solidFill>
                  <a:schemeClr val="dk1"/>
                </a:solidFill>
                <a:latin typeface="Source Code Pro Black"/>
                <a:ea typeface="Source Code Pro Black"/>
                <a:cs typeface="Source Code Pro Black"/>
                <a:sym typeface="Source Code Pro Black"/>
              </a:defRPr>
            </a:lvl9pPr>
          </a:lstStyle>
          <a:p>
            <a:endParaRPr/>
          </a:p>
        </p:txBody>
      </p:sp>
      <p:sp>
        <p:nvSpPr>
          <p:cNvPr id="7" name="Google Shape;7;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1pPr>
            <a:lvl2pPr marL="914400" lvl="1"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2pPr>
            <a:lvl3pPr marL="1371600" lvl="2"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3pPr>
            <a:lvl4pPr marL="1828800" lvl="3"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4pPr>
            <a:lvl5pPr marL="2286000" lvl="4"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5pPr>
            <a:lvl6pPr marL="2743200" lvl="5"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6pPr>
            <a:lvl7pPr marL="3200400" lvl="6"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7pPr>
            <a:lvl8pPr marL="3657600" lvl="7"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8pPr>
            <a:lvl9pPr marL="4114800" lvl="8" indent="-330200">
              <a:lnSpc>
                <a:spcPct val="100000"/>
              </a:lnSpc>
              <a:spcBef>
                <a:spcPts val="0"/>
              </a:spcBef>
              <a:spcAft>
                <a:spcPts val="0"/>
              </a:spcAft>
              <a:buClr>
                <a:schemeClr val="dk2"/>
              </a:buClr>
              <a:buSzPts val="1600"/>
              <a:buFont typeface="Roboto"/>
              <a:buChar char="■"/>
              <a:defRPr sz="1600">
                <a:solidFill>
                  <a:schemeClr val="dk2"/>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38" name="Google Shape;138;p23"/>
          <p:cNvSpPr txBox="1">
            <a:spLocks noGrp="1"/>
          </p:cNvSpPr>
          <p:nvPr>
            <p:ph type="ctrTitle"/>
          </p:nvPr>
        </p:nvSpPr>
        <p:spPr>
          <a:xfrm>
            <a:off x="499621" y="527901"/>
            <a:ext cx="8502693" cy="261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4800" b="1" dirty="0">
                <a:latin typeface="Times New Roman" panose="02020603050405020304" pitchFamily="18" charset="0"/>
                <a:cs typeface="Times New Roman" panose="02020603050405020304" pitchFamily="18" charset="0"/>
              </a:rPr>
              <a:t>ỨNG DỤNG ẢO HÓA TRIỂN KHAI HỆ THỐNG SERVER CÔNG TY XÂY DỰNG</a:t>
            </a:r>
            <a:endParaRPr sz="4800" b="1" dirty="0">
              <a:latin typeface="Times New Roman" panose="02020603050405020304" pitchFamily="18" charset="0"/>
              <a:cs typeface="Times New Roman" panose="02020603050405020304" pitchFamily="18" charset="0"/>
            </a:endParaRPr>
          </a:p>
        </p:txBody>
      </p:sp>
      <p:sp>
        <p:nvSpPr>
          <p:cNvPr id="139" name="Google Shape;139;p23"/>
          <p:cNvSpPr txBox="1">
            <a:spLocks noGrp="1"/>
          </p:cNvSpPr>
          <p:nvPr>
            <p:ph type="subTitle" idx="1"/>
          </p:nvPr>
        </p:nvSpPr>
        <p:spPr>
          <a:xfrm>
            <a:off x="0" y="4479462"/>
            <a:ext cx="4378960" cy="540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dk2"/>
                </a:solidFill>
              </a:rPr>
              <a:t>Thực hiện: Nguyễn Thanh Tùng - 21142671</a:t>
            </a:r>
          </a:p>
          <a:p>
            <a:pPr marL="0" lvl="0" indent="0" algn="l" rtl="0">
              <a:spcBef>
                <a:spcPts val="0"/>
              </a:spcBef>
              <a:spcAft>
                <a:spcPts val="0"/>
              </a:spcAft>
              <a:buNone/>
            </a:pPr>
            <a:endParaRPr lang="en" dirty="0">
              <a:solidFill>
                <a:schemeClr val="dk2"/>
              </a:solidFill>
            </a:endParaRPr>
          </a:p>
          <a:p>
            <a:pPr marL="0" lvl="0" indent="0" algn="l" rtl="0">
              <a:spcBef>
                <a:spcPts val="0"/>
              </a:spcBef>
              <a:spcAft>
                <a:spcPts val="0"/>
              </a:spcAft>
              <a:buNone/>
            </a:pPr>
            <a:r>
              <a:rPr lang="en" dirty="0">
                <a:solidFill>
                  <a:schemeClr val="dk2"/>
                </a:solidFill>
              </a:rPr>
              <a:t>Giáo viên HD: Ths. Phạm Thái Khanh</a:t>
            </a:r>
            <a:endParaRPr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Thực</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trạng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H</a:t>
            </a:r>
            <a:r>
              <a:rPr lang="vi-VN" sz="3200" b="1" dirty="0">
                <a:solidFill>
                  <a:schemeClr val="accent1">
                    <a:lumMod val="75000"/>
                  </a:schemeClr>
                </a:solidFill>
                <a:latin typeface="Times New Roman" panose="02020603050405020304" pitchFamily="18" charset="0"/>
                <a:cs typeface="Times New Roman" panose="02020603050405020304" pitchFamily="18" charset="0"/>
              </a:rPr>
              <a:t>ạ </a:t>
            </a:r>
            <a:r>
              <a:rPr lang="vi-VN" sz="3200" b="1" dirty="0">
                <a:solidFill>
                  <a:schemeClr val="accent1">
                    <a:lumMod val="75000"/>
                  </a:schemeClr>
                </a:solidFill>
                <a:latin typeface="+mj-lt"/>
              </a:rPr>
              <a:t>tầng Vật lý Trung tâm Dữ liệu</a:t>
            </a:r>
            <a:endParaRPr sz="3200" dirty="0">
              <a:latin typeface="+mj-lt"/>
            </a:endParaRPr>
          </a:p>
        </p:txBody>
      </p:sp>
      <p:pic>
        <p:nvPicPr>
          <p:cNvPr id="4" name="Content Placeholder 6">
            <a:extLst>
              <a:ext uri="{FF2B5EF4-FFF2-40B4-BE49-F238E27FC236}">
                <a16:creationId xmlns:a16="http://schemas.microsoft.com/office/drawing/2014/main" id="{607AAFDB-C4EC-1134-280D-2C51276372B9}"/>
              </a:ext>
            </a:extLst>
          </p:cNvPr>
          <p:cNvPicPr>
            <a:picLocks noChangeAspect="1"/>
          </p:cNvPicPr>
          <p:nvPr/>
        </p:nvPicPr>
        <p:blipFill>
          <a:blip r:embed="rId3"/>
          <a:stretch>
            <a:fillRect/>
          </a:stretch>
        </p:blipFill>
        <p:spPr>
          <a:xfrm>
            <a:off x="180828" y="1151905"/>
            <a:ext cx="4294237" cy="2600200"/>
          </a:xfrm>
          <a:prstGeom prst="rect">
            <a:avLst/>
          </a:prstGeom>
          <a:noFill/>
          <a:ln>
            <a:noFill/>
          </a:ln>
        </p:spPr>
      </p:pic>
      <p:sp>
        <p:nvSpPr>
          <p:cNvPr id="8" name="TextBox 7">
            <a:extLst>
              <a:ext uri="{FF2B5EF4-FFF2-40B4-BE49-F238E27FC236}">
                <a16:creationId xmlns:a16="http://schemas.microsoft.com/office/drawing/2014/main" id="{83490313-28D0-9BE2-2E72-6AFA09F6C8B4}"/>
              </a:ext>
            </a:extLst>
          </p:cNvPr>
          <p:cNvSpPr txBox="1"/>
          <p:nvPr/>
        </p:nvSpPr>
        <p:spPr>
          <a:xfrm>
            <a:off x="4552963" y="1151905"/>
            <a:ext cx="4572000" cy="1883657"/>
          </a:xfrm>
          <a:prstGeom prst="rect">
            <a:avLst/>
          </a:prstGeom>
          <a:noFill/>
        </p:spPr>
        <p:txBody>
          <a:bodyPr wrap="square">
            <a:spAutoFit/>
          </a:bodyPr>
          <a:lstStyle/>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Hiệu</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Suất</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Sử</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Tài</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Nguyên</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Khả</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Năng</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Dự</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Phòng</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Khôi</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Phục</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Lý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Bảo</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Trì</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Khả</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Năng</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Mở</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Rộng</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200" b="1" dirty="0">
                <a:solidFill>
                  <a:schemeClr val="accent1">
                    <a:lumMod val="75000"/>
                  </a:schemeClr>
                </a:solidFill>
                <a:latin typeface="+mj-lt"/>
              </a:rPr>
              <a:t>Yêu cầu</a:t>
            </a:r>
            <a:endParaRPr sz="3200" b="1" dirty="0"/>
          </a:p>
        </p:txBody>
      </p:sp>
      <p:sp>
        <p:nvSpPr>
          <p:cNvPr id="4" name="TextBox 3">
            <a:extLst>
              <a:ext uri="{FF2B5EF4-FFF2-40B4-BE49-F238E27FC236}">
                <a16:creationId xmlns:a16="http://schemas.microsoft.com/office/drawing/2014/main" id="{936510F2-BE47-0C7F-E932-579808CD566B}"/>
              </a:ext>
            </a:extLst>
          </p:cNvPr>
          <p:cNvSpPr txBox="1"/>
          <p:nvPr/>
        </p:nvSpPr>
        <p:spPr>
          <a:xfrm>
            <a:off x="304800" y="1042852"/>
            <a:ext cx="4572000" cy="2729786"/>
          </a:xfrm>
          <a:prstGeom prst="rect">
            <a:avLst/>
          </a:prstGeom>
          <a:noFill/>
        </p:spPr>
        <p:txBody>
          <a:bodyPr wrap="square">
            <a:spAutoFit/>
          </a:bodyPr>
          <a:lstStyle/>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rPr>
              <a:t>Tối</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Ưu</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Hóa</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Tài</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Nguyên</a:t>
            </a:r>
            <a:endParaRPr lang="en-US" sz="2000" dirty="0">
              <a:effectLst/>
              <a:latin typeface="Times New Roman" panose="02020603050405020304" pitchFamily="18" charset="0"/>
              <a:ea typeface="Times New Roman" panose="02020603050405020304" pitchFamily="18" charset="0"/>
            </a:endParaRP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rPr>
              <a:t>Đảm</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Bảo</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Tính</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Sẵn</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Sàng</a:t>
            </a:r>
            <a:r>
              <a:rPr lang="en-US" sz="2000" dirty="0">
                <a:effectLst/>
                <a:latin typeface="Times New Roman" panose="02020603050405020304" pitchFamily="18" charset="0"/>
                <a:ea typeface="Times New Roman" panose="02020603050405020304" pitchFamily="18" charset="0"/>
              </a:rPr>
              <a:t> Cao</a:t>
            </a: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rPr>
              <a:t>Quản</a:t>
            </a:r>
            <a:r>
              <a:rPr lang="en-US" sz="2000" dirty="0">
                <a:effectLst/>
                <a:latin typeface="Times New Roman" panose="02020603050405020304" pitchFamily="18" charset="0"/>
                <a:ea typeface="Times New Roman" panose="02020603050405020304" pitchFamily="18" charset="0"/>
              </a:rPr>
              <a:t> Lý </a:t>
            </a:r>
            <a:r>
              <a:rPr lang="en-US" sz="2000" dirty="0" err="1">
                <a:effectLst/>
                <a:latin typeface="Times New Roman" panose="02020603050405020304" pitchFamily="18" charset="0"/>
                <a:ea typeface="Times New Roman" panose="02020603050405020304" pitchFamily="18" charset="0"/>
              </a:rPr>
              <a:t>Hiệu</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Quả</a:t>
            </a:r>
            <a:endParaRPr lang="en-US" sz="2000" dirty="0">
              <a:effectLst/>
              <a:latin typeface="Times New Roman" panose="02020603050405020304" pitchFamily="18" charset="0"/>
              <a:ea typeface="Times New Roman" panose="02020603050405020304" pitchFamily="18" charset="0"/>
            </a:endParaRP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rPr>
              <a:t>Khả</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Năng</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Mở</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Rộng</a:t>
            </a:r>
            <a:endParaRPr lang="en-US" sz="2000" dirty="0">
              <a:effectLst/>
              <a:latin typeface="Times New Roman" panose="02020603050405020304" pitchFamily="18" charset="0"/>
              <a:ea typeface="Times New Roman" panose="02020603050405020304" pitchFamily="18" charset="0"/>
            </a:endParaRPr>
          </a:p>
          <a:p>
            <a:pPr marL="342900" indent="-342900" algn="just">
              <a:lnSpc>
                <a:spcPct val="130000"/>
              </a:lnSpc>
              <a:spcBef>
                <a:spcPts val="600"/>
              </a:spcBef>
              <a:buFont typeface="Arial" panose="020B0604020202020204" pitchFamily="34" charset="0"/>
              <a:buChar char="•"/>
            </a:pPr>
            <a:r>
              <a:rPr lang="en-US" sz="2000" dirty="0" err="1">
                <a:effectLst/>
                <a:latin typeface="Times New Roman" panose="02020603050405020304" pitchFamily="18" charset="0"/>
                <a:ea typeface="Times New Roman" panose="02020603050405020304" pitchFamily="18" charset="0"/>
              </a:rPr>
              <a:t>Bảo</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Mật</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và</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Khôi</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Phục</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Dữ</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Liệu</a:t>
            </a:r>
            <a:endParaRPr lang="en-US" sz="2000" dirty="0">
              <a:effectLst/>
              <a:latin typeface="Times New Roman" panose="02020603050405020304" pitchFamily="18" charset="0"/>
              <a:ea typeface="Times New Roman" panose="02020603050405020304" pitchFamily="18" charset="0"/>
            </a:endParaRPr>
          </a:p>
          <a:p>
            <a:pPr algn="just">
              <a:lnSpc>
                <a:spcPct val="130000"/>
              </a:lnSpc>
              <a:spcBef>
                <a:spcPts val="600"/>
              </a:spcBef>
            </a:pP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9132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28745" y="77750"/>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200" b="1" dirty="0">
                <a:solidFill>
                  <a:schemeClr val="accent1">
                    <a:lumMod val="75000"/>
                  </a:schemeClr>
                </a:solidFill>
                <a:latin typeface="+mj-lt"/>
              </a:rPr>
              <a:t>Mục tiêu và giải pháp</a:t>
            </a:r>
            <a:endParaRPr sz="3200" b="1" dirty="0"/>
          </a:p>
        </p:txBody>
      </p:sp>
      <p:sp>
        <p:nvSpPr>
          <p:cNvPr id="5" name="TextBox 4">
            <a:extLst>
              <a:ext uri="{FF2B5EF4-FFF2-40B4-BE49-F238E27FC236}">
                <a16:creationId xmlns:a16="http://schemas.microsoft.com/office/drawing/2014/main" id="{C85ADBEA-9073-98D1-212E-489CA473804A}"/>
              </a:ext>
            </a:extLst>
          </p:cNvPr>
          <p:cNvSpPr txBox="1"/>
          <p:nvPr/>
        </p:nvSpPr>
        <p:spPr>
          <a:xfrm>
            <a:off x="128745" y="1347652"/>
            <a:ext cx="3965735" cy="2031325"/>
          </a:xfrm>
          <a:prstGeom prst="rect">
            <a:avLst/>
          </a:prstGeom>
          <a:noFill/>
        </p:spPr>
        <p:txBody>
          <a:bodyPr wrap="square">
            <a:spAutoFit/>
          </a:bodyPr>
          <a:lstStyle/>
          <a:p>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Mục</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tiêu</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Tăng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Suất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Dụng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Tài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Nguyên</a:t>
            </a: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Đảm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Tính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Sẵn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Sàng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Cao</a:t>
            </a: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Cải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Thiện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Lý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Trì</a:t>
            </a: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Tăng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Cường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Khả</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Năng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Mở</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Rộng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Bảo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Mật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Khôi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Phục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Liệu</a:t>
            </a:r>
            <a:endParaRPr lang="en-US" sz="1800" dirty="0">
              <a:latin typeface="Times New Roman" panose="02020603050405020304" pitchFamily="18" charset="0"/>
              <a:cs typeface="Times New Roman" panose="02020603050405020304" pitchFamily="18" charset="0"/>
            </a:endParaRPr>
          </a:p>
        </p:txBody>
      </p:sp>
      <p:sp>
        <p:nvSpPr>
          <p:cNvPr id="18" name="Arrow: Right 17">
            <a:extLst>
              <a:ext uri="{FF2B5EF4-FFF2-40B4-BE49-F238E27FC236}">
                <a16:creationId xmlns:a16="http://schemas.microsoft.com/office/drawing/2014/main" id="{2679D250-C355-472C-B84C-D0101C8175C7}"/>
              </a:ext>
            </a:extLst>
          </p:cNvPr>
          <p:cNvSpPr/>
          <p:nvPr/>
        </p:nvSpPr>
        <p:spPr>
          <a:xfrm>
            <a:off x="4196080" y="2311240"/>
            <a:ext cx="568962" cy="47641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3508D72-FDFE-20D6-1C88-415FFF3DCB33}"/>
              </a:ext>
            </a:extLst>
          </p:cNvPr>
          <p:cNvSpPr txBox="1"/>
          <p:nvPr/>
        </p:nvSpPr>
        <p:spPr>
          <a:xfrm>
            <a:off x="4947921" y="1341409"/>
            <a:ext cx="4067334" cy="2308324"/>
          </a:xfrm>
          <a:prstGeom prst="rect">
            <a:avLst/>
          </a:prstGeom>
          <a:noFill/>
        </p:spPr>
        <p:txBody>
          <a:bodyPr wrap="square">
            <a:spAutoFit/>
          </a:bodyPr>
          <a:lstStyle/>
          <a:p>
            <a:r>
              <a:rPr lang="en-US" sz="1800" b="1" dirty="0" err="1">
                <a:latin typeface="Times New Roman" panose="02020603050405020304" pitchFamily="18" charset="0"/>
                <a:ea typeface="Times New Roman" panose="02020603050405020304" pitchFamily="18" charset="0"/>
                <a:cs typeface="Times New Roman" panose="02020603050405020304" pitchFamily="18" charset="0"/>
              </a:rPr>
              <a:t>Giải</a:t>
            </a:r>
            <a:r>
              <a:rPr lang="en-US" sz="18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ea typeface="Times New Roman" panose="02020603050405020304" pitchFamily="18" charset="0"/>
                <a:cs typeface="Times New Roman" panose="02020603050405020304" pitchFamily="18" charset="0"/>
              </a:rPr>
              <a:t>pháp</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Triển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Khai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vSphere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vCenter Server</a:t>
            </a: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Sử</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vSphere HA</a:t>
            </a: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Triển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Khai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vSAN</a:t>
            </a: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Sao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Khôi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Phục</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Veeam</a:t>
            </a:r>
          </a:p>
          <a:p>
            <a:pPr marL="342900" indent="-342900">
              <a:buFont typeface="Arial" panose="020B0604020202020204" pitchFamily="34" charset="0"/>
              <a:buChar char="•"/>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Lập</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Mạng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Lý,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vMotion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vSAN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Riêng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Biệt</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615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3200" b="1" dirty="0">
                <a:solidFill>
                  <a:schemeClr val="accent1">
                    <a:lumMod val="75000"/>
                  </a:schemeClr>
                </a:solidFill>
                <a:latin typeface="+mj-lt"/>
              </a:rPr>
              <a:t>Lợi ích khi sử dụng máy ảo</a:t>
            </a:r>
            <a:endParaRPr sz="32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E7FA0C9-38B6-3D1B-2C5D-500FF62297CC}"/>
              </a:ext>
            </a:extLst>
          </p:cNvPr>
          <p:cNvSpPr txBox="1"/>
          <p:nvPr/>
        </p:nvSpPr>
        <p:spPr>
          <a:xfrm>
            <a:off x="109708" y="757382"/>
            <a:ext cx="5893724" cy="1938992"/>
          </a:xfrm>
          <a:prstGeom prst="rect">
            <a:avLst/>
          </a:prstGeom>
          <a:noFill/>
        </p:spPr>
        <p:txBody>
          <a:bodyPr wrap="square">
            <a:spAutoFit/>
          </a:bodyPr>
          <a:lstStyle/>
          <a:p>
            <a:r>
              <a:rPr lang="en-US" sz="2000" b="1" i="0" dirty="0" err="1">
                <a:solidFill>
                  <a:srgbClr val="1D232B"/>
                </a:solidFill>
                <a:effectLst/>
                <a:latin typeface="Times New Roman" panose="02020603050405020304" pitchFamily="18" charset="0"/>
                <a:cs typeface="Times New Roman" panose="02020603050405020304" pitchFamily="18" charset="0"/>
              </a:rPr>
              <a:t>Máy</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tính</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vật</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lý</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có</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những</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hạn</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chế</a:t>
            </a:r>
            <a:r>
              <a:rPr lang="en-US" sz="2000" b="1" i="0" dirty="0">
                <a:solidFill>
                  <a:srgbClr val="1D232B"/>
                </a:solidFill>
                <a:effectLst/>
                <a:latin typeface="Times New Roman" panose="02020603050405020304" pitchFamily="18" charset="0"/>
                <a:cs typeface="Times New Roman" panose="02020603050405020304" pitchFamily="18" charset="0"/>
              </a:rPr>
              <a:t> </a:t>
            </a:r>
            <a:r>
              <a:rPr lang="en-US" sz="2000" b="1" i="0" dirty="0" err="1">
                <a:solidFill>
                  <a:srgbClr val="1D232B"/>
                </a:solidFill>
                <a:effectLst/>
                <a:latin typeface="Times New Roman" panose="02020603050405020304" pitchFamily="18" charset="0"/>
                <a:cs typeface="Times New Roman" panose="02020603050405020304" pitchFamily="18" charset="0"/>
              </a:rPr>
              <a:t>sau</a:t>
            </a:r>
            <a:r>
              <a:rPr lang="en-US" sz="2000" b="1" i="0" dirty="0">
                <a:solidFill>
                  <a:srgbClr val="1D232B"/>
                </a:solidFill>
                <a:effectLst/>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vi-VN" sz="2000" b="0" i="0" dirty="0">
                <a:solidFill>
                  <a:srgbClr val="000000"/>
                </a:solidFill>
                <a:effectLst/>
                <a:latin typeface="+mj-lt"/>
              </a:rPr>
              <a:t>Khó di chuyển hoặc sao chép</a:t>
            </a:r>
          </a:p>
          <a:p>
            <a:pPr marL="800100" lvl="1" indent="-342900">
              <a:buFont typeface="Arial" panose="020B0604020202020204" pitchFamily="34" charset="0"/>
              <a:buChar char="•"/>
            </a:pPr>
            <a:r>
              <a:rPr lang="en-US" sz="2000" b="0" i="0" dirty="0" err="1">
                <a:solidFill>
                  <a:srgbClr val="000000"/>
                </a:solidFill>
                <a:effectLst/>
                <a:latin typeface="Times New Roman" panose="02020603050405020304" pitchFamily="18" charset="0"/>
                <a:cs typeface="Times New Roman" panose="02020603050405020304" pitchFamily="18" charset="0"/>
              </a:rPr>
              <a:t>Bị</a:t>
            </a:r>
            <a:r>
              <a:rPr lang="en-US" sz="2000" b="0" i="0" dirty="0">
                <a:solidFill>
                  <a:srgbClr val="000000"/>
                </a:solidFill>
                <a:effectLst/>
                <a:latin typeface="Times New Roman" panose="02020603050405020304" pitchFamily="18" charset="0"/>
                <a:cs typeface="Times New Roman" panose="02020603050405020304" pitchFamily="18" charset="0"/>
              </a:rPr>
              <a:t> rang </a:t>
            </a:r>
            <a:r>
              <a:rPr lang="en-US" sz="2000" b="0" i="0" dirty="0" err="1">
                <a:solidFill>
                  <a:srgbClr val="000000"/>
                </a:solidFill>
                <a:effectLst/>
                <a:latin typeface="Times New Roman" panose="02020603050405020304" pitchFamily="18" charset="0"/>
                <a:cs typeface="Times New Roman" panose="02020603050405020304" pitchFamily="18" charset="0"/>
              </a:rPr>
              <a:t>buộc</a:t>
            </a:r>
            <a:r>
              <a:rPr lang="vi-VN" sz="2000" b="0" i="0" dirty="0">
                <a:solidFill>
                  <a:srgbClr val="000000"/>
                </a:solidFill>
                <a:effectLst/>
                <a:latin typeface="Times New Roman" panose="02020603050405020304" pitchFamily="18" charset="0"/>
                <a:cs typeface="Times New Roman" panose="02020603050405020304" pitchFamily="18" charset="0"/>
              </a:rPr>
              <a:t> </a:t>
            </a:r>
            <a:r>
              <a:rPr lang="vi-VN" sz="2000" b="0" i="0" dirty="0">
                <a:solidFill>
                  <a:srgbClr val="000000"/>
                </a:solidFill>
                <a:effectLst/>
                <a:latin typeface="+mj-lt"/>
              </a:rPr>
              <a:t>một bộ phận phần cứng cụ thể</a:t>
            </a:r>
          </a:p>
          <a:p>
            <a:pPr marL="800100" lvl="1" indent="-342900">
              <a:buFont typeface="Arial" panose="020B0604020202020204" pitchFamily="34" charset="0"/>
              <a:buChar char="•"/>
            </a:pPr>
            <a:r>
              <a:rPr lang="vi-VN" sz="2000" b="0" i="0" dirty="0">
                <a:solidFill>
                  <a:srgbClr val="000000"/>
                </a:solidFill>
                <a:effectLst/>
                <a:latin typeface="+mj-lt"/>
              </a:rPr>
              <a:t>Thường có vòng đời ngắn</a:t>
            </a:r>
          </a:p>
          <a:p>
            <a:pPr marL="800100" lvl="1" indent="-342900">
              <a:buFont typeface="Arial" panose="020B0604020202020204" pitchFamily="34" charset="0"/>
              <a:buChar char="•"/>
            </a:pPr>
            <a:r>
              <a:rPr lang="vi-VN" sz="2000" b="0" i="0" dirty="0">
                <a:solidFill>
                  <a:srgbClr val="000000"/>
                </a:solidFill>
                <a:effectLst/>
                <a:latin typeface="+mj-lt"/>
              </a:rPr>
              <a:t>Cần có sự tiếp xúc trực tiếp để nâng cấp phần cứng</a:t>
            </a:r>
          </a:p>
        </p:txBody>
      </p:sp>
      <p:sp>
        <p:nvSpPr>
          <p:cNvPr id="3" name="TextBox 2">
            <a:extLst>
              <a:ext uri="{FF2B5EF4-FFF2-40B4-BE49-F238E27FC236}">
                <a16:creationId xmlns:a16="http://schemas.microsoft.com/office/drawing/2014/main" id="{3A5C1C4E-956A-3553-6714-5856E4B9BBE6}"/>
              </a:ext>
            </a:extLst>
          </p:cNvPr>
          <p:cNvSpPr txBox="1"/>
          <p:nvPr/>
        </p:nvSpPr>
        <p:spPr>
          <a:xfrm>
            <a:off x="109708" y="2723294"/>
            <a:ext cx="7226735" cy="1938992"/>
          </a:xfrm>
          <a:prstGeom prst="rect">
            <a:avLst/>
          </a:prstGeom>
          <a:noFill/>
        </p:spPr>
        <p:txBody>
          <a:bodyPr wrap="square">
            <a:spAutoFit/>
          </a:bodyPr>
          <a:lstStyle/>
          <a:p>
            <a:pPr algn="l"/>
            <a:r>
              <a:rPr lang="vi-VN" sz="2000" b="1" i="0" dirty="0">
                <a:solidFill>
                  <a:srgbClr val="1D232B"/>
                </a:solidFill>
                <a:effectLst/>
                <a:latin typeface="+mj-lt"/>
              </a:rPr>
              <a:t>Máy ảo mang lại những lợi ích sau:</a:t>
            </a:r>
          </a:p>
          <a:p>
            <a:pPr marL="800100" lvl="1" indent="-342900">
              <a:buFont typeface="Arial" panose="020B0604020202020204" pitchFamily="34" charset="0"/>
              <a:buChar char="•"/>
            </a:pPr>
            <a:r>
              <a:rPr lang="vi-VN" sz="2000" b="0" i="0" dirty="0">
                <a:solidFill>
                  <a:srgbClr val="000000"/>
                </a:solidFill>
                <a:effectLst/>
                <a:latin typeface="+mj-lt"/>
              </a:rPr>
              <a:t>Dễ dàng di chuyển hoặc sao chép</a:t>
            </a:r>
          </a:p>
          <a:p>
            <a:pPr marL="800100" lvl="1" indent="-342900">
              <a:buFont typeface="Arial" panose="020B0604020202020204" pitchFamily="34" charset="0"/>
              <a:buChar char="•"/>
            </a:pPr>
            <a:r>
              <a:rPr lang="vi-VN" sz="2000" b="0" i="0" dirty="0">
                <a:solidFill>
                  <a:srgbClr val="000000"/>
                </a:solidFill>
                <a:effectLst/>
                <a:latin typeface="+mj-lt"/>
              </a:rPr>
              <a:t>Độc lập với phần cứng vật lý vì máy ảo được đóng gói thành tệp tin</a:t>
            </a:r>
          </a:p>
          <a:p>
            <a:pPr marL="800100" lvl="1" indent="-342900">
              <a:buFont typeface="Arial" panose="020B0604020202020204" pitchFamily="34" charset="0"/>
              <a:buChar char="•"/>
            </a:pPr>
            <a:r>
              <a:rPr lang="vi-VN" sz="2000" b="0" i="0" dirty="0">
                <a:solidFill>
                  <a:srgbClr val="000000"/>
                </a:solidFill>
                <a:effectLst/>
                <a:latin typeface="+mj-lt"/>
              </a:rPr>
              <a:t>Cách ly với các máy ảo khác chạy trên cùng phần cứng vật lý</a:t>
            </a:r>
          </a:p>
          <a:p>
            <a:pPr marL="800100" lvl="1" indent="-342900">
              <a:buFont typeface="Arial" panose="020B0604020202020204" pitchFamily="34" charset="0"/>
              <a:buChar char="•"/>
            </a:pPr>
            <a:r>
              <a:rPr lang="vi-VN" sz="2000" b="0" i="0" dirty="0">
                <a:solidFill>
                  <a:srgbClr val="000000"/>
                </a:solidFill>
                <a:effectLst/>
                <a:latin typeface="+mj-lt"/>
              </a:rPr>
              <a:t>Không bị ảnh hưởng bởi những thay đổi phần cứng vật lý</a:t>
            </a:r>
          </a:p>
        </p:txBody>
      </p:sp>
      <p:pic>
        <p:nvPicPr>
          <p:cNvPr id="7" name="Picture 6">
            <a:extLst>
              <a:ext uri="{FF2B5EF4-FFF2-40B4-BE49-F238E27FC236}">
                <a16:creationId xmlns:a16="http://schemas.microsoft.com/office/drawing/2014/main" id="{C7ECF837-D397-F522-9A1D-642E979ADC2B}"/>
              </a:ext>
            </a:extLst>
          </p:cNvPr>
          <p:cNvPicPr>
            <a:picLocks noChangeAspect="1"/>
          </p:cNvPicPr>
          <p:nvPr/>
        </p:nvPicPr>
        <p:blipFill>
          <a:blip r:embed="rId3"/>
          <a:stretch>
            <a:fillRect/>
          </a:stretch>
        </p:blipFill>
        <p:spPr>
          <a:xfrm>
            <a:off x="7705173" y="757382"/>
            <a:ext cx="1200318" cy="1714739"/>
          </a:xfrm>
          <a:prstGeom prst="rect">
            <a:avLst/>
          </a:prstGeom>
        </p:spPr>
      </p:pic>
      <p:pic>
        <p:nvPicPr>
          <p:cNvPr id="8" name="Picture 7">
            <a:extLst>
              <a:ext uri="{FF2B5EF4-FFF2-40B4-BE49-F238E27FC236}">
                <a16:creationId xmlns:a16="http://schemas.microsoft.com/office/drawing/2014/main" id="{F34C74B7-D238-5C90-E035-F9891AB475B6}"/>
              </a:ext>
            </a:extLst>
          </p:cNvPr>
          <p:cNvPicPr>
            <a:picLocks noChangeAspect="1"/>
          </p:cNvPicPr>
          <p:nvPr/>
        </p:nvPicPr>
        <p:blipFill>
          <a:blip r:embed="rId4"/>
          <a:stretch>
            <a:fillRect/>
          </a:stretch>
        </p:blipFill>
        <p:spPr>
          <a:xfrm>
            <a:off x="7586281" y="3034929"/>
            <a:ext cx="1438102" cy="1438102"/>
          </a:xfrm>
          <a:prstGeom prst="rect">
            <a:avLst/>
          </a:prstGeom>
        </p:spPr>
      </p:pic>
    </p:spTree>
    <p:extLst>
      <p:ext uri="{BB962C8B-B14F-4D97-AF65-F5344CB8AC3E}">
        <p14:creationId xmlns:p14="http://schemas.microsoft.com/office/powerpoint/2010/main" val="153794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Xây</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dựng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mô</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hình</a:t>
            </a:r>
            <a:endParaRPr sz="32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FBA3E73-D651-4741-DFB6-D4181E3BC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922" y="1082848"/>
            <a:ext cx="8445912" cy="3273252"/>
          </a:xfrm>
          <a:prstGeom prst="rect">
            <a:avLst/>
          </a:prstGeom>
        </p:spPr>
      </p:pic>
    </p:spTree>
    <p:extLst>
      <p:ext uri="{BB962C8B-B14F-4D97-AF65-F5344CB8AC3E}">
        <p14:creationId xmlns:p14="http://schemas.microsoft.com/office/powerpoint/2010/main" val="1568093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Xây</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dựng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mô</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hình</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endParaRPr sz="3200" b="1" dirty="0">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E580947B-F604-A33F-6EF4-13EEBE869C7E}"/>
              </a:ext>
            </a:extLst>
          </p:cNvPr>
          <p:cNvGraphicFramePr>
            <a:graphicFrameLocks noGrp="1"/>
          </p:cNvGraphicFramePr>
          <p:nvPr>
            <p:extLst>
              <p:ext uri="{D42A27DB-BD31-4B8C-83A1-F6EECF244321}">
                <p14:modId xmlns:p14="http://schemas.microsoft.com/office/powerpoint/2010/main" val="1255392389"/>
              </p:ext>
            </p:extLst>
          </p:nvPr>
        </p:nvGraphicFramePr>
        <p:xfrm>
          <a:off x="46208" y="1010025"/>
          <a:ext cx="9059692" cy="3544195"/>
        </p:xfrm>
        <a:graphic>
          <a:graphicData uri="http://schemas.openxmlformats.org/drawingml/2006/table">
            <a:tbl>
              <a:tblPr firstRow="1" bandRow="1">
                <a:tableStyleId>{5C22544A-7EE6-4342-B048-85BDC9FD1C3A}</a:tableStyleId>
              </a:tblPr>
              <a:tblGrid>
                <a:gridCol w="398292">
                  <a:extLst>
                    <a:ext uri="{9D8B030D-6E8A-4147-A177-3AD203B41FA5}">
                      <a16:colId xmlns:a16="http://schemas.microsoft.com/office/drawing/2014/main" val="3024744975"/>
                    </a:ext>
                  </a:extLst>
                </a:gridCol>
                <a:gridCol w="1714500">
                  <a:extLst>
                    <a:ext uri="{9D8B030D-6E8A-4147-A177-3AD203B41FA5}">
                      <a16:colId xmlns:a16="http://schemas.microsoft.com/office/drawing/2014/main" val="949300998"/>
                    </a:ext>
                  </a:extLst>
                </a:gridCol>
                <a:gridCol w="2387600">
                  <a:extLst>
                    <a:ext uri="{9D8B030D-6E8A-4147-A177-3AD203B41FA5}">
                      <a16:colId xmlns:a16="http://schemas.microsoft.com/office/drawing/2014/main" val="3273090845"/>
                    </a:ext>
                  </a:extLst>
                </a:gridCol>
                <a:gridCol w="1498600">
                  <a:extLst>
                    <a:ext uri="{9D8B030D-6E8A-4147-A177-3AD203B41FA5}">
                      <a16:colId xmlns:a16="http://schemas.microsoft.com/office/drawing/2014/main" val="1577669920"/>
                    </a:ext>
                  </a:extLst>
                </a:gridCol>
                <a:gridCol w="1511300">
                  <a:extLst>
                    <a:ext uri="{9D8B030D-6E8A-4147-A177-3AD203B41FA5}">
                      <a16:colId xmlns:a16="http://schemas.microsoft.com/office/drawing/2014/main" val="3074069093"/>
                    </a:ext>
                  </a:extLst>
                </a:gridCol>
                <a:gridCol w="1549400">
                  <a:extLst>
                    <a:ext uri="{9D8B030D-6E8A-4147-A177-3AD203B41FA5}">
                      <a16:colId xmlns:a16="http://schemas.microsoft.com/office/drawing/2014/main" val="1607915218"/>
                    </a:ext>
                  </a:extLst>
                </a:gridCol>
              </a:tblGrid>
              <a:tr h="488315">
                <a:tc>
                  <a:txBody>
                    <a:bodyPr/>
                    <a:lstStyle/>
                    <a:p>
                      <a:pPr algn="ctr"/>
                      <a:r>
                        <a:rPr lang="en-US" sz="1800" dirty="0">
                          <a:latin typeface="Times New Roman" panose="02020603050405020304" pitchFamily="18" charset="0"/>
                          <a:cs typeface="Times New Roman" panose="02020603050405020304" pitchFamily="18" charset="0"/>
                        </a:rPr>
                        <a:t>STT</a:t>
                      </a: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Tên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Máy</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dirty="0">
                          <a:latin typeface="Times New Roman" panose="02020603050405020304" pitchFamily="18" charset="0"/>
                          <a:cs typeface="Times New Roman" panose="02020603050405020304" pitchFamily="18" charset="0"/>
                        </a:rPr>
                        <a:t>Hostname</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Manager</a:t>
                      </a: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vSan</a:t>
                      </a:r>
                      <a:r>
                        <a:rPr lang="en-US" sz="1800" dirty="0">
                          <a:latin typeface="Times New Roman" panose="02020603050405020304" pitchFamily="18" charset="0"/>
                          <a:cs typeface="Times New Roman" panose="02020603050405020304" pitchFamily="18" charset="0"/>
                        </a:rPr>
                        <a:t>/Storage</a:t>
                      </a: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vMotion</a:t>
                      </a:r>
                      <a:endParaRPr 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71517780"/>
                  </a:ext>
                </a:extLst>
              </a:tr>
              <a:tr h="375685">
                <a:tc>
                  <a:txBody>
                    <a:bodyPr/>
                    <a:lstStyle/>
                    <a:p>
                      <a:pPr algn="ctr"/>
                      <a:r>
                        <a:rPr lang="en-US" sz="1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DC01</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DC1.lizen.local</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192.168.1.2</a:t>
                      </a:r>
                    </a:p>
                  </a:txBody>
                  <a:tcPr anchor="ctr"/>
                </a:tc>
                <a:tc>
                  <a:txBody>
                    <a:bodyPr/>
                    <a:lstStyle/>
                    <a:p>
                      <a:pPr algn="ct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a:endParaRPr 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04360910"/>
                  </a:ext>
                </a:extLst>
              </a:tr>
              <a:tr h="375685">
                <a:tc>
                  <a:txBody>
                    <a:bodyPr/>
                    <a:lstStyle/>
                    <a:p>
                      <a:pPr algn="ctr"/>
                      <a:r>
                        <a:rPr lang="en-US" sz="1800" dirty="0">
                          <a:latin typeface="Times New Roman" panose="02020603050405020304" pitchFamily="18" charset="0"/>
                          <a:cs typeface="Times New Roman" panose="02020603050405020304" pitchFamily="18" charset="0"/>
                        </a:rPr>
                        <a:t>2</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SA - ESXI – 01</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Sa-esxi-01.lizen.local</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192.168.1.101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10.1.1.101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10.2.2.101</a:t>
                      </a:r>
                    </a:p>
                  </a:txBody>
                  <a:tcPr anchor="ctr"/>
                </a:tc>
                <a:extLst>
                  <a:ext uri="{0D108BD9-81ED-4DB2-BD59-A6C34878D82A}">
                    <a16:rowId xmlns:a16="http://schemas.microsoft.com/office/drawing/2014/main" val="686308437"/>
                  </a:ext>
                </a:extLst>
              </a:tr>
              <a:tr h="375685">
                <a:tc>
                  <a:txBody>
                    <a:bodyPr/>
                    <a:lstStyle/>
                    <a:p>
                      <a:pPr algn="ctr"/>
                      <a:r>
                        <a:rPr lang="en-US" sz="1800" dirty="0">
                          <a:latin typeface="Times New Roman" panose="02020603050405020304" pitchFamily="18" charset="0"/>
                          <a:cs typeface="Times New Roman" panose="02020603050405020304" pitchFamily="18" charset="0"/>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SA - ESXI – 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Sa-esxi-02.lizen.local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192.168.1.102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10.1.1.102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10.2.2.102</a:t>
                      </a:r>
                    </a:p>
                  </a:txBody>
                  <a:tcPr anchor="ctr"/>
                </a:tc>
                <a:extLst>
                  <a:ext uri="{0D108BD9-81ED-4DB2-BD59-A6C34878D82A}">
                    <a16:rowId xmlns:a16="http://schemas.microsoft.com/office/drawing/2014/main" val="3585873694"/>
                  </a:ext>
                </a:extLst>
              </a:tr>
              <a:tr h="375685">
                <a:tc>
                  <a:txBody>
                    <a:bodyPr/>
                    <a:lstStyle/>
                    <a:p>
                      <a:pPr algn="ctr"/>
                      <a:r>
                        <a:rPr lang="en-US" sz="1800" dirty="0">
                          <a:latin typeface="Times New Roman" panose="02020603050405020304" pitchFamily="18" charset="0"/>
                          <a:cs typeface="Times New Roman" panose="02020603050405020304" pitchFamily="18" charset="0"/>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SA - ESXI – 03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Sa-esxi-03.lizen.local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192.168.1.103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10.1.1.103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10.2.2.103</a:t>
                      </a:r>
                    </a:p>
                  </a:txBody>
                  <a:tcPr anchor="ctr"/>
                </a:tc>
                <a:extLst>
                  <a:ext uri="{0D108BD9-81ED-4DB2-BD59-A6C34878D82A}">
                    <a16:rowId xmlns:a16="http://schemas.microsoft.com/office/drawing/2014/main" val="2429019587"/>
                  </a:ext>
                </a:extLst>
              </a:tr>
              <a:tr h="375685">
                <a:tc>
                  <a:txBody>
                    <a:bodyPr/>
                    <a:lstStyle/>
                    <a:p>
                      <a:pPr algn="ctr"/>
                      <a:r>
                        <a:rPr lang="en-US" sz="1800" dirty="0">
                          <a:latin typeface="Times New Roman" panose="02020603050405020304" pitchFamily="18" charset="0"/>
                          <a:cs typeface="Times New Roman" panose="02020603050405020304" pitchFamily="18" charset="0"/>
                        </a:rPr>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SA - ESXI – 04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Sa-esxi-04.lizen.local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192.168.1.104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10.1.1.104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10.2.2.104</a:t>
                      </a:r>
                    </a:p>
                  </a:txBody>
                  <a:tcPr anchor="ctr"/>
                </a:tc>
                <a:extLst>
                  <a:ext uri="{0D108BD9-81ED-4DB2-BD59-A6C34878D82A}">
                    <a16:rowId xmlns:a16="http://schemas.microsoft.com/office/drawing/2014/main" val="2727262353"/>
                  </a:ext>
                </a:extLst>
              </a:tr>
              <a:tr h="375685">
                <a:tc>
                  <a:txBody>
                    <a:bodyPr/>
                    <a:lstStyle/>
                    <a:p>
                      <a:pPr algn="ctr"/>
                      <a:r>
                        <a:rPr lang="en-US" sz="1800" dirty="0">
                          <a:latin typeface="Times New Roman" panose="02020603050405020304" pitchFamily="18" charset="0"/>
                          <a:cs typeface="Times New Roman" panose="02020603050405020304" pitchFamily="18" charset="0"/>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VCSA</a:t>
                      </a:r>
                    </a:p>
                  </a:txBody>
                  <a:tcPr anchor="ctr"/>
                </a:tc>
                <a:tc>
                  <a:txBody>
                    <a:bodyPr/>
                    <a:lstStyle/>
                    <a:p>
                      <a:pPr algn="ctr"/>
                      <a:r>
                        <a:rPr lang="en-US" sz="1800">
                          <a:latin typeface="Times New Roman" panose="02020603050405020304" pitchFamily="18" charset="0"/>
                          <a:cs typeface="Times New Roman" panose="02020603050405020304" pitchFamily="18" charset="0"/>
                        </a:rPr>
                        <a:t>Sa-vcsa8-01.</a:t>
                      </a:r>
                      <a:r>
                        <a:rPr lang="en-US" sz="1800" dirty="0" err="1">
                          <a:latin typeface="Times New Roman" panose="02020603050405020304" pitchFamily="18" charset="0"/>
                          <a:cs typeface="Times New Roman" panose="02020603050405020304" pitchFamily="18" charset="0"/>
                        </a:rPr>
                        <a:t>lizen.local</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192.168.1.111</a:t>
                      </a:r>
                    </a:p>
                  </a:txBody>
                  <a:tcPr anchor="ctr"/>
                </a:tc>
                <a:tc>
                  <a:txBody>
                    <a:bodyPr/>
                    <a:lstStyle/>
                    <a:p>
                      <a:pPr algn="ct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a:endParaRPr 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25667885"/>
                  </a:ext>
                </a:extLst>
              </a:tr>
              <a:tr h="375685">
                <a:tc>
                  <a:txBody>
                    <a:bodyPr/>
                    <a:lstStyle/>
                    <a:p>
                      <a:pPr algn="ctr"/>
                      <a:r>
                        <a:rPr lang="en-US" sz="1800" dirty="0">
                          <a:latin typeface="Times New Roman" panose="02020603050405020304" pitchFamily="18" charset="0"/>
                          <a:cs typeface="Times New Roman" panose="02020603050405020304" pitchFamily="18" charset="0"/>
                        </a:rPr>
                        <a:t>7</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VEEAM</a:t>
                      </a:r>
                    </a:p>
                  </a:txBody>
                  <a:tcPr anchor="ctr"/>
                </a:tc>
                <a:tc>
                  <a:txBody>
                    <a:bodyPr/>
                    <a:lstStyle/>
                    <a:p>
                      <a:pPr algn="ctr"/>
                      <a:r>
                        <a:rPr lang="en-US" sz="1800" dirty="0" err="1">
                          <a:latin typeface="Times New Roman" panose="02020603050405020304" pitchFamily="18" charset="0"/>
                          <a:cs typeface="Times New Roman" panose="02020603050405020304" pitchFamily="18" charset="0"/>
                        </a:rPr>
                        <a:t>Veeam.lizen.local</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192.168.1.112</a:t>
                      </a:r>
                    </a:p>
                  </a:txBody>
                  <a:tcPr anchor="ctr"/>
                </a:tc>
                <a:tc>
                  <a:txBody>
                    <a:bodyPr/>
                    <a:lstStyle/>
                    <a:p>
                      <a:pPr algn="ctr"/>
                      <a:r>
                        <a:rPr lang="en-US" sz="1800" dirty="0">
                          <a:latin typeface="Times New Roman" panose="02020603050405020304" pitchFamily="18" charset="0"/>
                          <a:cs typeface="Times New Roman" panose="02020603050405020304" pitchFamily="18" charset="0"/>
                        </a:rPr>
                        <a:t>10.1.1.112</a:t>
                      </a:r>
                    </a:p>
                  </a:txBody>
                  <a:tcPr anchor="ctr"/>
                </a:tc>
                <a:tc>
                  <a:txBody>
                    <a:bodyPr/>
                    <a:lstStyle/>
                    <a:p>
                      <a:pPr algn="ctr"/>
                      <a:endParaRPr 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72259613"/>
                  </a:ext>
                </a:extLst>
              </a:tr>
            </a:tbl>
          </a:graphicData>
        </a:graphic>
      </p:graphicFrame>
    </p:spTree>
    <p:extLst>
      <p:ext uri="{BB962C8B-B14F-4D97-AF65-F5344CB8AC3E}">
        <p14:creationId xmlns:p14="http://schemas.microsoft.com/office/powerpoint/2010/main" val="3769450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Xây</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dựng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mô</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hình</a:t>
            </a:r>
            <a:r>
              <a:rPr lang="en-US" sz="3200" b="1" dirty="0">
                <a:solidFill>
                  <a:schemeClr val="accent1">
                    <a:lumMod val="75000"/>
                  </a:schemeClr>
                </a:solidFill>
                <a:latin typeface="Times New Roman" panose="02020603050405020304" pitchFamily="18" charset="0"/>
                <a:cs typeface="Times New Roman" panose="02020603050405020304" pitchFamily="18" charset="0"/>
              </a:rPr>
              <a:t> –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ESXi</a:t>
            </a:r>
            <a:endParaRPr sz="3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38A5191-3AA4-A7FD-FB98-4B24FDA59252}"/>
              </a:ext>
            </a:extLst>
          </p:cNvPr>
          <p:cNvPicPr>
            <a:picLocks noChangeAspect="1"/>
          </p:cNvPicPr>
          <p:nvPr/>
        </p:nvPicPr>
        <p:blipFill>
          <a:blip r:embed="rId3"/>
          <a:stretch>
            <a:fillRect/>
          </a:stretch>
        </p:blipFill>
        <p:spPr>
          <a:xfrm>
            <a:off x="309244" y="1120139"/>
            <a:ext cx="3728783" cy="3596446"/>
          </a:xfrm>
          <a:prstGeom prst="rect">
            <a:avLst/>
          </a:prstGeom>
        </p:spPr>
      </p:pic>
      <p:sp>
        <p:nvSpPr>
          <p:cNvPr id="9" name="TextBox 8">
            <a:extLst>
              <a:ext uri="{FF2B5EF4-FFF2-40B4-BE49-F238E27FC236}">
                <a16:creationId xmlns:a16="http://schemas.microsoft.com/office/drawing/2014/main" id="{3F595D0C-1210-51F7-8430-FA9B46858BE6}"/>
              </a:ext>
            </a:extLst>
          </p:cNvPr>
          <p:cNvSpPr txBox="1"/>
          <p:nvPr/>
        </p:nvSpPr>
        <p:spPr>
          <a:xfrm>
            <a:off x="1468608" y="745429"/>
            <a:ext cx="1553992" cy="400110"/>
          </a:xfrm>
          <a:prstGeom prst="rect">
            <a:avLst/>
          </a:prstGeom>
          <a:noFill/>
        </p:spPr>
        <p:txBody>
          <a:bodyPr wrap="square">
            <a:spAutoFit/>
          </a:bodyPr>
          <a:lstStyle/>
          <a:p>
            <a:pPr algn="l"/>
            <a:r>
              <a:rPr lang="vi-VN" sz="2000" b="0" i="0" dirty="0">
                <a:solidFill>
                  <a:srgbClr val="0D0D0D"/>
                </a:solidFill>
                <a:effectLst/>
                <a:latin typeface="+mj-lt"/>
              </a:rPr>
              <a:t>ESXi</a:t>
            </a:r>
            <a:r>
              <a:rPr lang="en-US" sz="2000" b="0" i="0" dirty="0">
                <a:solidFill>
                  <a:srgbClr val="0D0D0D"/>
                </a:solidFill>
                <a:effectLst/>
                <a:latin typeface="+mj-lt"/>
              </a:rPr>
              <a:t> </a:t>
            </a:r>
            <a:r>
              <a:rPr lang="en-US" sz="2000" b="0" i="0" dirty="0">
                <a:solidFill>
                  <a:srgbClr val="0D0D0D"/>
                </a:solidFill>
                <a:effectLst/>
                <a:latin typeface="Times New Roman" panose="02020603050405020304" pitchFamily="18" charset="0"/>
                <a:cs typeface="Times New Roman" panose="02020603050405020304" pitchFamily="18" charset="0"/>
              </a:rPr>
              <a:t>Server</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E5686DC-1FB2-090A-30A2-8CE938DC6198}"/>
              </a:ext>
            </a:extLst>
          </p:cNvPr>
          <p:cNvSpPr txBox="1"/>
          <p:nvPr/>
        </p:nvSpPr>
        <p:spPr>
          <a:xfrm>
            <a:off x="5737544" y="745429"/>
            <a:ext cx="2014048" cy="400110"/>
          </a:xfrm>
          <a:prstGeom prst="rect">
            <a:avLst/>
          </a:prstGeom>
          <a:noFill/>
        </p:spPr>
        <p:txBody>
          <a:bodyPr wrap="square">
            <a:spAutoFit/>
          </a:bodyPr>
          <a:lstStyle/>
          <a:p>
            <a:pPr algn="l"/>
            <a:r>
              <a:rPr lang="vi-VN" sz="2000" b="0" i="0" dirty="0">
                <a:solidFill>
                  <a:srgbClr val="0D0D0D"/>
                </a:solidFill>
                <a:effectLst/>
                <a:latin typeface="+mj-lt"/>
              </a:rPr>
              <a:t>ESXi</a:t>
            </a:r>
            <a:r>
              <a:rPr lang="en-US" sz="2000" b="0" i="0" dirty="0">
                <a:solidFill>
                  <a:srgbClr val="0D0D0D"/>
                </a:solidFill>
                <a:effectLst/>
                <a:latin typeface="+mj-lt"/>
              </a:rPr>
              <a:t> </a:t>
            </a:r>
            <a:r>
              <a:rPr lang="en-US" sz="2000" b="0" i="0" dirty="0">
                <a:solidFill>
                  <a:srgbClr val="0D0D0D"/>
                </a:solidFill>
                <a:effectLst/>
                <a:latin typeface="Times New Roman" panose="02020603050405020304" pitchFamily="18" charset="0"/>
                <a:cs typeface="Times New Roman" panose="02020603050405020304" pitchFamily="18" charset="0"/>
              </a:rPr>
              <a:t>Host Client</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CD311A68-2ED1-4708-C17E-64B964689239}"/>
              </a:ext>
            </a:extLst>
          </p:cNvPr>
          <p:cNvPicPr>
            <a:picLocks noChangeAspect="1"/>
          </p:cNvPicPr>
          <p:nvPr/>
        </p:nvPicPr>
        <p:blipFill>
          <a:blip r:embed="rId4"/>
          <a:stretch>
            <a:fillRect/>
          </a:stretch>
        </p:blipFill>
        <p:spPr>
          <a:xfrm>
            <a:off x="4143342" y="1145538"/>
            <a:ext cx="4852877" cy="3134361"/>
          </a:xfrm>
          <a:prstGeom prst="rect">
            <a:avLst/>
          </a:prstGeom>
        </p:spPr>
      </p:pic>
    </p:spTree>
    <p:extLst>
      <p:ext uri="{BB962C8B-B14F-4D97-AF65-F5344CB8AC3E}">
        <p14:creationId xmlns:p14="http://schemas.microsoft.com/office/powerpoint/2010/main" val="312689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Xây</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dựng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mô</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hình</a:t>
            </a:r>
            <a:r>
              <a:rPr lang="en-US" sz="3200" b="1" dirty="0">
                <a:solidFill>
                  <a:schemeClr val="accent1">
                    <a:lumMod val="75000"/>
                  </a:schemeClr>
                </a:solidFill>
                <a:latin typeface="Times New Roman" panose="02020603050405020304" pitchFamily="18" charset="0"/>
                <a:cs typeface="Times New Roman" panose="02020603050405020304" pitchFamily="18" charset="0"/>
              </a:rPr>
              <a:t> – vCenter</a:t>
            </a:r>
            <a:endParaRPr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270360-6E27-3024-10C2-9FFAAD70A7AF}"/>
              </a:ext>
            </a:extLst>
          </p:cNvPr>
          <p:cNvPicPr>
            <a:picLocks noChangeAspect="1"/>
          </p:cNvPicPr>
          <p:nvPr/>
        </p:nvPicPr>
        <p:blipFill>
          <a:blip r:embed="rId3"/>
          <a:stretch>
            <a:fillRect/>
          </a:stretch>
        </p:blipFill>
        <p:spPr>
          <a:xfrm>
            <a:off x="105163" y="1079500"/>
            <a:ext cx="4308790" cy="3638414"/>
          </a:xfrm>
          <a:prstGeom prst="rect">
            <a:avLst/>
          </a:prstGeom>
        </p:spPr>
      </p:pic>
      <p:sp>
        <p:nvSpPr>
          <p:cNvPr id="2" name="TextBox 1">
            <a:extLst>
              <a:ext uri="{FF2B5EF4-FFF2-40B4-BE49-F238E27FC236}">
                <a16:creationId xmlns:a16="http://schemas.microsoft.com/office/drawing/2014/main" id="{561DDC49-E510-8E11-7FA4-2476AF004CC6}"/>
              </a:ext>
            </a:extLst>
          </p:cNvPr>
          <p:cNvSpPr txBox="1"/>
          <p:nvPr/>
        </p:nvSpPr>
        <p:spPr>
          <a:xfrm>
            <a:off x="1219227" y="679390"/>
            <a:ext cx="1995029" cy="400110"/>
          </a:xfrm>
          <a:prstGeom prst="rect">
            <a:avLst/>
          </a:prstGeom>
          <a:noFill/>
        </p:spPr>
        <p:txBody>
          <a:bodyPr wrap="square">
            <a:spAutoFit/>
          </a:bodyPr>
          <a:lstStyle/>
          <a:p>
            <a:pPr algn="l"/>
            <a:r>
              <a:rPr lang="en-US" sz="2000" b="0" i="0" dirty="0">
                <a:solidFill>
                  <a:srgbClr val="0D0D0D"/>
                </a:solidFill>
                <a:effectLst/>
                <a:latin typeface="Times New Roman" panose="02020603050405020304" pitchFamily="18" charset="0"/>
                <a:cs typeface="Times New Roman" panose="02020603050405020304" pitchFamily="18" charset="0"/>
              </a:rPr>
              <a:t>vCenter</a:t>
            </a:r>
            <a:r>
              <a:rPr lang="en-US" sz="2000" b="0" i="0" dirty="0">
                <a:solidFill>
                  <a:srgbClr val="0D0D0D"/>
                </a:solidFill>
                <a:effectLst/>
                <a:latin typeface="+mj-lt"/>
              </a:rPr>
              <a:t> </a:t>
            </a:r>
            <a:r>
              <a:rPr lang="en-US" sz="2000" b="0" i="0" dirty="0">
                <a:solidFill>
                  <a:srgbClr val="0D0D0D"/>
                </a:solidFill>
                <a:effectLst/>
                <a:latin typeface="Times New Roman" panose="02020603050405020304" pitchFamily="18" charset="0"/>
                <a:cs typeface="Times New Roman" panose="02020603050405020304" pitchFamily="18" charset="0"/>
              </a:rPr>
              <a:t>Server</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2E142BF-9FE3-08E5-495B-6D3C75117F32}"/>
              </a:ext>
            </a:extLst>
          </p:cNvPr>
          <p:cNvPicPr>
            <a:picLocks noChangeAspect="1"/>
          </p:cNvPicPr>
          <p:nvPr/>
        </p:nvPicPr>
        <p:blipFill>
          <a:blip r:embed="rId4"/>
          <a:stretch>
            <a:fillRect/>
          </a:stretch>
        </p:blipFill>
        <p:spPr>
          <a:xfrm>
            <a:off x="4572000" y="1079500"/>
            <a:ext cx="4531618" cy="3557155"/>
          </a:xfrm>
          <a:prstGeom prst="rect">
            <a:avLst/>
          </a:prstGeom>
        </p:spPr>
      </p:pic>
      <p:sp>
        <p:nvSpPr>
          <p:cNvPr id="6" name="TextBox 5">
            <a:extLst>
              <a:ext uri="{FF2B5EF4-FFF2-40B4-BE49-F238E27FC236}">
                <a16:creationId xmlns:a16="http://schemas.microsoft.com/office/drawing/2014/main" id="{614DFAD9-96D2-0FAD-1AAA-5A4F5E82DBAD}"/>
              </a:ext>
            </a:extLst>
          </p:cNvPr>
          <p:cNvSpPr txBox="1"/>
          <p:nvPr/>
        </p:nvSpPr>
        <p:spPr>
          <a:xfrm>
            <a:off x="5840294" y="679390"/>
            <a:ext cx="1995029" cy="400110"/>
          </a:xfrm>
          <a:prstGeom prst="rect">
            <a:avLst/>
          </a:prstGeom>
          <a:noFill/>
        </p:spPr>
        <p:txBody>
          <a:bodyPr wrap="square">
            <a:spAutoFit/>
          </a:bodyPr>
          <a:lstStyle/>
          <a:p>
            <a:pPr algn="l"/>
            <a:r>
              <a:rPr lang="en-US" sz="2000" b="0" i="0" dirty="0">
                <a:solidFill>
                  <a:srgbClr val="0D0D0D"/>
                </a:solidFill>
                <a:effectLst/>
                <a:latin typeface="Times New Roman" panose="02020603050405020304" pitchFamily="18" charset="0"/>
                <a:cs typeface="Times New Roman" panose="02020603050405020304" pitchFamily="18" charset="0"/>
              </a:rPr>
              <a:t>vSphere Client</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202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Tính</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năng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nổi</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bật</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của</a:t>
            </a:r>
            <a:r>
              <a:rPr lang="en-US" sz="3200" b="1" dirty="0">
                <a:solidFill>
                  <a:schemeClr val="accent1">
                    <a:lumMod val="75000"/>
                  </a:schemeClr>
                </a:solidFill>
                <a:latin typeface="Times New Roman" panose="02020603050405020304" pitchFamily="18" charset="0"/>
                <a:cs typeface="Times New Roman" panose="02020603050405020304" pitchFamily="18" charset="0"/>
              </a:rPr>
              <a:t> vSphere</a:t>
            </a:r>
            <a:endParaRPr sz="32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61DDC49-E510-8E11-7FA4-2476AF004CC6}"/>
              </a:ext>
            </a:extLst>
          </p:cNvPr>
          <p:cNvSpPr txBox="1"/>
          <p:nvPr/>
        </p:nvSpPr>
        <p:spPr>
          <a:xfrm>
            <a:off x="331903" y="1132677"/>
            <a:ext cx="794879" cy="400110"/>
          </a:xfrm>
          <a:prstGeom prst="rect">
            <a:avLst/>
          </a:prstGeom>
          <a:noFill/>
        </p:spPr>
        <p:txBody>
          <a:bodyPr wrap="square">
            <a:spAutoFit/>
          </a:bodyPr>
          <a:lstStyle/>
          <a:p>
            <a:pPr algn="l"/>
            <a:r>
              <a:rPr lang="en-US" sz="2000" dirty="0" err="1">
                <a:solidFill>
                  <a:srgbClr val="0D0D0D"/>
                </a:solidFill>
                <a:latin typeface="Times New Roman" panose="02020603050405020304" pitchFamily="18" charset="0"/>
                <a:cs typeface="Times New Roman" panose="02020603050405020304" pitchFamily="18" charset="0"/>
              </a:rPr>
              <a:t>Vs</a:t>
            </a:r>
            <a:r>
              <a:rPr lang="en-US" sz="2000" b="0" i="0" dirty="0" err="1">
                <a:solidFill>
                  <a:srgbClr val="0D0D0D"/>
                </a:solidFill>
                <a:effectLst/>
                <a:latin typeface="Times New Roman" panose="02020603050405020304" pitchFamily="18" charset="0"/>
                <a:cs typeface="Times New Roman" panose="02020603050405020304" pitchFamily="18" charset="0"/>
              </a:rPr>
              <a:t>an</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A0E8C29-D3C0-B307-972A-90D106549A85}"/>
              </a:ext>
            </a:extLst>
          </p:cNvPr>
          <p:cNvPicPr>
            <a:picLocks noChangeAspect="1"/>
          </p:cNvPicPr>
          <p:nvPr/>
        </p:nvPicPr>
        <p:blipFill rotWithShape="1">
          <a:blip r:embed="rId3"/>
          <a:srcRect r="161" b="42572"/>
          <a:stretch/>
        </p:blipFill>
        <p:spPr>
          <a:xfrm>
            <a:off x="331903" y="1668596"/>
            <a:ext cx="7104982" cy="2045082"/>
          </a:xfrm>
          <a:prstGeom prst="rect">
            <a:avLst/>
          </a:prstGeom>
        </p:spPr>
      </p:pic>
    </p:spTree>
    <p:extLst>
      <p:ext uri="{BB962C8B-B14F-4D97-AF65-F5344CB8AC3E}">
        <p14:creationId xmlns:p14="http://schemas.microsoft.com/office/powerpoint/2010/main" val="779828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Tính</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năng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nổi</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bật</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của</a:t>
            </a:r>
            <a:r>
              <a:rPr lang="en-US" sz="3200" b="1" dirty="0">
                <a:solidFill>
                  <a:schemeClr val="accent1">
                    <a:lumMod val="75000"/>
                  </a:schemeClr>
                </a:solidFill>
                <a:latin typeface="Times New Roman" panose="02020603050405020304" pitchFamily="18" charset="0"/>
                <a:cs typeface="Times New Roman" panose="02020603050405020304" pitchFamily="18" charset="0"/>
              </a:rPr>
              <a:t> vSphere</a:t>
            </a:r>
            <a:endParaRPr sz="32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61DDC49-E510-8E11-7FA4-2476AF004CC6}"/>
              </a:ext>
            </a:extLst>
          </p:cNvPr>
          <p:cNvSpPr txBox="1"/>
          <p:nvPr/>
        </p:nvSpPr>
        <p:spPr>
          <a:xfrm>
            <a:off x="279862" y="757382"/>
            <a:ext cx="3560618" cy="400110"/>
          </a:xfrm>
          <a:prstGeom prst="rect">
            <a:avLst/>
          </a:prstGeom>
          <a:noFill/>
        </p:spPr>
        <p:txBody>
          <a:bodyPr wrap="square">
            <a:spAutoFit/>
          </a:bodyPr>
          <a:lstStyle/>
          <a:p>
            <a:pPr algn="l"/>
            <a:r>
              <a:rPr lang="en-US" sz="2000" dirty="0">
                <a:solidFill>
                  <a:srgbClr val="0D0D0D"/>
                </a:solidFill>
                <a:latin typeface="Times New Roman" panose="02020603050405020304" pitchFamily="18" charset="0"/>
                <a:cs typeface="Times New Roman" panose="02020603050405020304" pitchFamily="18" charset="0"/>
              </a:rPr>
              <a:t>vSphere HA (High Availability):</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902883-C462-3810-C2AA-0C04262C623B}"/>
              </a:ext>
            </a:extLst>
          </p:cNvPr>
          <p:cNvPicPr>
            <a:picLocks noChangeAspect="1"/>
          </p:cNvPicPr>
          <p:nvPr/>
        </p:nvPicPr>
        <p:blipFill>
          <a:blip r:embed="rId3"/>
          <a:stretch>
            <a:fillRect/>
          </a:stretch>
        </p:blipFill>
        <p:spPr>
          <a:xfrm>
            <a:off x="249054" y="1157492"/>
            <a:ext cx="7182852" cy="1133633"/>
          </a:xfrm>
          <a:prstGeom prst="rect">
            <a:avLst/>
          </a:prstGeom>
        </p:spPr>
      </p:pic>
      <p:sp>
        <p:nvSpPr>
          <p:cNvPr id="5" name="TextBox 4">
            <a:extLst>
              <a:ext uri="{FF2B5EF4-FFF2-40B4-BE49-F238E27FC236}">
                <a16:creationId xmlns:a16="http://schemas.microsoft.com/office/drawing/2014/main" id="{3F7B374C-0B4E-37EF-97D0-15C7D40F38C8}"/>
              </a:ext>
            </a:extLst>
          </p:cNvPr>
          <p:cNvSpPr txBox="1"/>
          <p:nvPr/>
        </p:nvSpPr>
        <p:spPr>
          <a:xfrm>
            <a:off x="249054" y="2417861"/>
            <a:ext cx="4572000" cy="400110"/>
          </a:xfrm>
          <a:prstGeom prst="rect">
            <a:avLst/>
          </a:prstGeom>
          <a:noFill/>
        </p:spPr>
        <p:txBody>
          <a:bodyPr wrap="square">
            <a:spAutoFit/>
          </a:bodyPr>
          <a:lstStyle/>
          <a:p>
            <a:r>
              <a:rPr lang="en-US" sz="2000" i="0" dirty="0">
                <a:solidFill>
                  <a:schemeClr val="tx1"/>
                </a:solidFill>
                <a:effectLst/>
                <a:latin typeface="Times New Roman" panose="02020603050405020304" pitchFamily="18" charset="0"/>
                <a:cs typeface="Times New Roman" panose="02020603050405020304" pitchFamily="18" charset="0"/>
              </a:rPr>
              <a:t>Fault Tolerance (FT)</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DB249F6-E81C-BDBE-8471-D04BBB90EC28}"/>
              </a:ext>
            </a:extLst>
          </p:cNvPr>
          <p:cNvPicPr>
            <a:picLocks noChangeAspect="1"/>
          </p:cNvPicPr>
          <p:nvPr/>
        </p:nvPicPr>
        <p:blipFill>
          <a:blip r:embed="rId4"/>
          <a:stretch>
            <a:fillRect/>
          </a:stretch>
        </p:blipFill>
        <p:spPr>
          <a:xfrm>
            <a:off x="279862" y="2787650"/>
            <a:ext cx="3648584" cy="1543265"/>
          </a:xfrm>
          <a:prstGeom prst="rect">
            <a:avLst/>
          </a:prstGeom>
        </p:spPr>
      </p:pic>
    </p:spTree>
    <p:extLst>
      <p:ext uri="{BB962C8B-B14F-4D97-AF65-F5344CB8AC3E}">
        <p14:creationId xmlns:p14="http://schemas.microsoft.com/office/powerpoint/2010/main" val="161886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err="1">
                <a:solidFill>
                  <a:schemeClr val="accent1">
                    <a:lumMod val="75000"/>
                  </a:schemeClr>
                </a:solidFill>
                <a:latin typeface="Times New Roman" panose="02020603050405020304" pitchFamily="18" charset="0"/>
                <a:cs typeface="Times New Roman" panose="02020603050405020304" pitchFamily="18" charset="0"/>
              </a:rPr>
              <a:t>Tính</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năng</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nổi</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bật</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1">
                    <a:lumMod val="75000"/>
                  </a:schemeClr>
                </a:solidFill>
                <a:latin typeface="Times New Roman" panose="02020603050405020304" pitchFamily="18" charset="0"/>
                <a:cs typeface="Times New Roman" panose="02020603050405020304" pitchFamily="18" charset="0"/>
              </a:rPr>
              <a:t>của</a:t>
            </a:r>
            <a:r>
              <a:rPr lang="en-US" sz="3200" b="1" dirty="0">
                <a:solidFill>
                  <a:schemeClr val="accent1">
                    <a:lumMod val="75000"/>
                  </a:schemeClr>
                </a:solidFill>
                <a:latin typeface="Times New Roman" panose="02020603050405020304" pitchFamily="18" charset="0"/>
                <a:cs typeface="Times New Roman" panose="02020603050405020304" pitchFamily="18" charset="0"/>
              </a:rPr>
              <a:t> vSphere</a:t>
            </a:r>
            <a:endParaRPr sz="32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61DDC49-E510-8E11-7FA4-2476AF004CC6}"/>
              </a:ext>
            </a:extLst>
          </p:cNvPr>
          <p:cNvSpPr txBox="1"/>
          <p:nvPr/>
        </p:nvSpPr>
        <p:spPr>
          <a:xfrm>
            <a:off x="109708" y="873375"/>
            <a:ext cx="5532582" cy="400110"/>
          </a:xfrm>
          <a:prstGeom prst="rect">
            <a:avLst/>
          </a:prstGeom>
          <a:noFill/>
        </p:spPr>
        <p:txBody>
          <a:bodyPr wrap="square">
            <a:spAutoFit/>
          </a:bodyPr>
          <a:lstStyle/>
          <a:p>
            <a:pPr algn="l"/>
            <a:r>
              <a:rPr lang="en-US" sz="2000" dirty="0">
                <a:solidFill>
                  <a:srgbClr val="0D0D0D"/>
                </a:solidFill>
                <a:latin typeface="Times New Roman" panose="02020603050405020304" pitchFamily="18" charset="0"/>
                <a:cs typeface="Times New Roman" panose="02020603050405020304" pitchFamily="18" charset="0"/>
              </a:rPr>
              <a:t>vSphere DRS (Distributed Resource Scheduler)</a:t>
            </a:r>
            <a:endParaRPr lang="vi-VN" sz="2000" b="0" i="0" dirty="0">
              <a:solidFill>
                <a:srgbClr val="0D0D0D"/>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EF61A9-49AB-9FC2-8669-7BAF8BBA684B}"/>
              </a:ext>
            </a:extLst>
          </p:cNvPr>
          <p:cNvPicPr>
            <a:picLocks noChangeAspect="1"/>
          </p:cNvPicPr>
          <p:nvPr/>
        </p:nvPicPr>
        <p:blipFill>
          <a:blip r:embed="rId3"/>
          <a:stretch>
            <a:fillRect/>
          </a:stretch>
        </p:blipFill>
        <p:spPr>
          <a:xfrm>
            <a:off x="4427887" y="3040712"/>
            <a:ext cx="4716114" cy="1591608"/>
          </a:xfrm>
          <a:prstGeom prst="rect">
            <a:avLst/>
          </a:prstGeom>
        </p:spPr>
      </p:pic>
      <p:pic>
        <p:nvPicPr>
          <p:cNvPr id="6" name="Picture 5">
            <a:extLst>
              <a:ext uri="{FF2B5EF4-FFF2-40B4-BE49-F238E27FC236}">
                <a16:creationId xmlns:a16="http://schemas.microsoft.com/office/drawing/2014/main" id="{B1490BD3-3CC0-D52E-4121-71B40855A8B7}"/>
              </a:ext>
            </a:extLst>
          </p:cNvPr>
          <p:cNvPicPr>
            <a:picLocks noChangeAspect="1"/>
          </p:cNvPicPr>
          <p:nvPr/>
        </p:nvPicPr>
        <p:blipFill>
          <a:blip r:embed="rId4"/>
          <a:stretch>
            <a:fillRect/>
          </a:stretch>
        </p:blipFill>
        <p:spPr>
          <a:xfrm>
            <a:off x="109709" y="3040712"/>
            <a:ext cx="4318178" cy="1591608"/>
          </a:xfrm>
          <a:prstGeom prst="rect">
            <a:avLst/>
          </a:prstGeom>
        </p:spPr>
      </p:pic>
      <p:pic>
        <p:nvPicPr>
          <p:cNvPr id="8" name="Picture 7">
            <a:extLst>
              <a:ext uri="{FF2B5EF4-FFF2-40B4-BE49-F238E27FC236}">
                <a16:creationId xmlns:a16="http://schemas.microsoft.com/office/drawing/2014/main" id="{430CFA98-711F-BB7D-EE59-8FE25EF9F5F2}"/>
              </a:ext>
            </a:extLst>
          </p:cNvPr>
          <p:cNvPicPr>
            <a:picLocks noChangeAspect="1"/>
          </p:cNvPicPr>
          <p:nvPr/>
        </p:nvPicPr>
        <p:blipFill>
          <a:blip r:embed="rId5"/>
          <a:stretch>
            <a:fillRect/>
          </a:stretch>
        </p:blipFill>
        <p:spPr>
          <a:xfrm>
            <a:off x="109708" y="1382106"/>
            <a:ext cx="5223224" cy="1441363"/>
          </a:xfrm>
          <a:prstGeom prst="rect">
            <a:avLst/>
          </a:prstGeom>
        </p:spPr>
      </p:pic>
    </p:spTree>
    <p:extLst>
      <p:ext uri="{BB962C8B-B14F-4D97-AF65-F5344CB8AC3E}">
        <p14:creationId xmlns:p14="http://schemas.microsoft.com/office/powerpoint/2010/main" val="215624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99521"/>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a:solidFill>
                  <a:schemeClr val="accent1">
                    <a:lumMod val="75000"/>
                  </a:schemeClr>
                </a:solidFill>
                <a:latin typeface="Times New Roman" panose="02020603050405020304" pitchFamily="18" charset="0"/>
                <a:cs typeface="Times New Roman" panose="02020603050405020304" pitchFamily="18" charset="0"/>
              </a:rPr>
              <a:t>Veeam backup &amp; replication</a:t>
            </a:r>
          </a:p>
        </p:txBody>
      </p:sp>
      <p:pic>
        <p:nvPicPr>
          <p:cNvPr id="4" name="Picture 3">
            <a:extLst>
              <a:ext uri="{FF2B5EF4-FFF2-40B4-BE49-F238E27FC236}">
                <a16:creationId xmlns:a16="http://schemas.microsoft.com/office/drawing/2014/main" id="{A3274CE0-6CED-22B5-84D6-384BC5B95A86}"/>
              </a:ext>
            </a:extLst>
          </p:cNvPr>
          <p:cNvPicPr>
            <a:picLocks noChangeAspect="1"/>
          </p:cNvPicPr>
          <p:nvPr/>
        </p:nvPicPr>
        <p:blipFill>
          <a:blip r:embed="rId3"/>
          <a:stretch>
            <a:fillRect/>
          </a:stretch>
        </p:blipFill>
        <p:spPr>
          <a:xfrm>
            <a:off x="1796676" y="858982"/>
            <a:ext cx="5550647" cy="4047562"/>
          </a:xfrm>
          <a:prstGeom prst="rect">
            <a:avLst/>
          </a:prstGeom>
        </p:spPr>
      </p:pic>
    </p:spTree>
    <p:extLst>
      <p:ext uri="{BB962C8B-B14F-4D97-AF65-F5344CB8AC3E}">
        <p14:creationId xmlns:p14="http://schemas.microsoft.com/office/powerpoint/2010/main" val="2336395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109708" y="66864"/>
            <a:ext cx="8886510" cy="6578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a:solidFill>
                  <a:schemeClr val="accent1">
                    <a:lumMod val="75000"/>
                  </a:schemeClr>
                </a:solidFill>
                <a:latin typeface="Times New Roman" panose="02020603050405020304" pitchFamily="18" charset="0"/>
                <a:cs typeface="Times New Roman" panose="02020603050405020304" pitchFamily="18" charset="0"/>
              </a:rPr>
              <a:t>Kết quả đạt được</a:t>
            </a:r>
          </a:p>
        </p:txBody>
      </p:sp>
      <p:sp>
        <p:nvSpPr>
          <p:cNvPr id="3" name="TextBox 2">
            <a:extLst>
              <a:ext uri="{FF2B5EF4-FFF2-40B4-BE49-F238E27FC236}">
                <a16:creationId xmlns:a16="http://schemas.microsoft.com/office/drawing/2014/main" id="{7A1A5B26-BF02-A311-1891-9411C0F2BEFB}"/>
              </a:ext>
            </a:extLst>
          </p:cNvPr>
          <p:cNvSpPr txBox="1"/>
          <p:nvPr/>
        </p:nvSpPr>
        <p:spPr>
          <a:xfrm>
            <a:off x="109708" y="1417996"/>
            <a:ext cx="4321629" cy="3647152"/>
          </a:xfrm>
          <a:prstGeom prst="rect">
            <a:avLst/>
          </a:prstGeom>
          <a:noFill/>
        </p:spPr>
        <p:txBody>
          <a:bodyPr wrap="square">
            <a:spAutoFit/>
          </a:bodyPr>
          <a:lstStyle/>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Hiệu suất cải thiện</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Tăng tính sẵn sàng và độ tin cậy</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Quản lý dễ dàng và hiệu quả</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Tiết kiệm chi phí</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Nâng cao khả năng mở rộng</a:t>
            </a:r>
          </a:p>
          <a:p>
            <a:pPr marL="571500" indent="-571500">
              <a:buFont typeface="Arial" panose="020B0604020202020204" pitchFamily="34" charset="0"/>
              <a:buChar char="•"/>
            </a:pPr>
            <a:r>
              <a:rPr lang="vi-VN" sz="2100" dirty="0">
                <a:latin typeface="Times New Roman" panose="02020603050405020304" pitchFamily="18" charset="0"/>
                <a:cs typeface="Times New Roman" panose="02020603050405020304" pitchFamily="18" charset="0"/>
              </a:rPr>
              <a:t>Tăng cường bảo mật</a:t>
            </a:r>
            <a:endParaRPr lang="en-US" sz="21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Phát triển Kỹ năng Chuyên môn</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Kinh nghiệm Thực tiễn</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Kỹ năng Giải quyết Vấn đề</a:t>
            </a:r>
          </a:p>
          <a:p>
            <a:pPr marL="571500" indent="-571500">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Nâng cao Kỹ năng Quản lý Dự án</a:t>
            </a:r>
          </a:p>
        </p:txBody>
      </p:sp>
      <p:pic>
        <p:nvPicPr>
          <p:cNvPr id="7" name="Picture 6">
            <a:extLst>
              <a:ext uri="{FF2B5EF4-FFF2-40B4-BE49-F238E27FC236}">
                <a16:creationId xmlns:a16="http://schemas.microsoft.com/office/drawing/2014/main" id="{9DBC08AA-B88D-7802-0BFC-77C6460C655C}"/>
              </a:ext>
            </a:extLst>
          </p:cNvPr>
          <p:cNvPicPr>
            <a:picLocks noChangeAspect="1"/>
          </p:cNvPicPr>
          <p:nvPr/>
        </p:nvPicPr>
        <p:blipFill>
          <a:blip r:embed="rId3"/>
          <a:stretch>
            <a:fillRect/>
          </a:stretch>
        </p:blipFill>
        <p:spPr>
          <a:xfrm>
            <a:off x="4552963" y="1210098"/>
            <a:ext cx="4168285" cy="657860"/>
          </a:xfrm>
          <a:prstGeom prst="rect">
            <a:avLst/>
          </a:prstGeom>
        </p:spPr>
      </p:pic>
      <p:pic>
        <p:nvPicPr>
          <p:cNvPr id="8" name="Picture 7">
            <a:extLst>
              <a:ext uri="{FF2B5EF4-FFF2-40B4-BE49-F238E27FC236}">
                <a16:creationId xmlns:a16="http://schemas.microsoft.com/office/drawing/2014/main" id="{3A8FF756-2B36-314F-5216-D2A4BF24CB6E}"/>
              </a:ext>
            </a:extLst>
          </p:cNvPr>
          <p:cNvPicPr>
            <a:picLocks noChangeAspect="1"/>
          </p:cNvPicPr>
          <p:nvPr/>
        </p:nvPicPr>
        <p:blipFill>
          <a:blip r:embed="rId4"/>
          <a:stretch>
            <a:fillRect/>
          </a:stretch>
        </p:blipFill>
        <p:spPr>
          <a:xfrm>
            <a:off x="4572000" y="2129328"/>
            <a:ext cx="2754935" cy="1165273"/>
          </a:xfrm>
          <a:prstGeom prst="rect">
            <a:avLst/>
          </a:prstGeom>
        </p:spPr>
      </p:pic>
      <p:pic>
        <p:nvPicPr>
          <p:cNvPr id="9" name="Picture 8">
            <a:extLst>
              <a:ext uri="{FF2B5EF4-FFF2-40B4-BE49-F238E27FC236}">
                <a16:creationId xmlns:a16="http://schemas.microsoft.com/office/drawing/2014/main" id="{A4B1FB76-A54D-AC76-9F9E-DDFB5DDABBF2}"/>
              </a:ext>
            </a:extLst>
          </p:cNvPr>
          <p:cNvPicPr>
            <a:picLocks noChangeAspect="1"/>
          </p:cNvPicPr>
          <p:nvPr/>
        </p:nvPicPr>
        <p:blipFill>
          <a:blip r:embed="rId5"/>
          <a:stretch>
            <a:fillRect/>
          </a:stretch>
        </p:blipFill>
        <p:spPr>
          <a:xfrm>
            <a:off x="4535488" y="3624979"/>
            <a:ext cx="3722063" cy="1027114"/>
          </a:xfrm>
          <a:prstGeom prst="rect">
            <a:avLst/>
          </a:prstGeom>
        </p:spPr>
      </p:pic>
      <p:sp>
        <p:nvSpPr>
          <p:cNvPr id="11" name="TextBox 10">
            <a:extLst>
              <a:ext uri="{FF2B5EF4-FFF2-40B4-BE49-F238E27FC236}">
                <a16:creationId xmlns:a16="http://schemas.microsoft.com/office/drawing/2014/main" id="{A8FB47E1-B56A-C4D1-CE73-E74967061B44}"/>
              </a:ext>
            </a:extLst>
          </p:cNvPr>
          <p:cNvSpPr txBox="1"/>
          <p:nvPr/>
        </p:nvSpPr>
        <p:spPr>
          <a:xfrm>
            <a:off x="4457700" y="857948"/>
            <a:ext cx="46863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vSphere HA (High Availability):</a:t>
            </a:r>
          </a:p>
        </p:txBody>
      </p:sp>
      <p:sp>
        <p:nvSpPr>
          <p:cNvPr id="13" name="TextBox 12">
            <a:extLst>
              <a:ext uri="{FF2B5EF4-FFF2-40B4-BE49-F238E27FC236}">
                <a16:creationId xmlns:a16="http://schemas.microsoft.com/office/drawing/2014/main" id="{C6BCB9C6-DE29-12CB-FA0F-0070AEAE89AD}"/>
              </a:ext>
            </a:extLst>
          </p:cNvPr>
          <p:cNvSpPr txBox="1"/>
          <p:nvPr/>
        </p:nvSpPr>
        <p:spPr>
          <a:xfrm>
            <a:off x="4457700" y="1867958"/>
            <a:ext cx="4572000" cy="307777"/>
          </a:xfrm>
          <a:prstGeom prst="rect">
            <a:avLst/>
          </a:prstGeom>
          <a:noFill/>
        </p:spPr>
        <p:txBody>
          <a:bodyPr wrap="square">
            <a:spAutoFit/>
          </a:bodyPr>
          <a:lstStyle/>
          <a:p>
            <a:r>
              <a:rPr lang="en-US" sz="1400" i="0" dirty="0">
                <a:solidFill>
                  <a:schemeClr val="tx1"/>
                </a:solidFill>
                <a:effectLst/>
                <a:latin typeface="Times New Roman" panose="02020603050405020304" pitchFamily="18" charset="0"/>
                <a:cs typeface="Times New Roman" panose="02020603050405020304" pitchFamily="18" charset="0"/>
              </a:rPr>
              <a:t>Fault Tolerance (FT)</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5AF32FC-AFA5-9AFA-21BF-A3FD866FD56A}"/>
              </a:ext>
            </a:extLst>
          </p:cNvPr>
          <p:cNvSpPr txBox="1"/>
          <p:nvPr/>
        </p:nvSpPr>
        <p:spPr>
          <a:xfrm>
            <a:off x="4457700" y="3317202"/>
            <a:ext cx="4572000" cy="307777"/>
          </a:xfrm>
          <a:prstGeom prst="rect">
            <a:avLst/>
          </a:prstGeom>
          <a:noFill/>
        </p:spPr>
        <p:txBody>
          <a:bodyPr wrap="square">
            <a:spAutoFit/>
          </a:bodyPr>
          <a:lstStyle/>
          <a:p>
            <a:pPr algn="l"/>
            <a:r>
              <a:rPr lang="en-US" sz="1400" dirty="0">
                <a:solidFill>
                  <a:srgbClr val="0D0D0D"/>
                </a:solidFill>
                <a:latin typeface="Times New Roman" panose="02020603050405020304" pitchFamily="18" charset="0"/>
                <a:cs typeface="Times New Roman" panose="02020603050405020304" pitchFamily="18" charset="0"/>
              </a:rPr>
              <a:t>vSphere DRS (Distributed Resource Scheduler)</a:t>
            </a:r>
            <a:endParaRPr lang="vi-VN" sz="1400" b="0" i="0" dirty="0">
              <a:solidFill>
                <a:srgbClr val="0D0D0D"/>
              </a:solidFill>
              <a:effectLst/>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7811403D-A5D5-AEF0-C36B-3056066732BE}"/>
              </a:ext>
            </a:extLst>
          </p:cNvPr>
          <p:cNvPicPr>
            <a:picLocks noChangeAspect="1"/>
          </p:cNvPicPr>
          <p:nvPr/>
        </p:nvPicPr>
        <p:blipFill>
          <a:blip r:embed="rId6"/>
          <a:stretch>
            <a:fillRect/>
          </a:stretch>
        </p:blipFill>
        <p:spPr>
          <a:xfrm>
            <a:off x="4552963" y="1227835"/>
            <a:ext cx="4531618" cy="3557155"/>
          </a:xfrm>
          <a:prstGeom prst="rect">
            <a:avLst/>
          </a:prstGeom>
        </p:spPr>
      </p:pic>
      <p:sp>
        <p:nvSpPr>
          <p:cNvPr id="18" name="TextBox 17">
            <a:extLst>
              <a:ext uri="{FF2B5EF4-FFF2-40B4-BE49-F238E27FC236}">
                <a16:creationId xmlns:a16="http://schemas.microsoft.com/office/drawing/2014/main" id="{4F00C468-5DEB-0535-4999-50A0042CE8EF}"/>
              </a:ext>
            </a:extLst>
          </p:cNvPr>
          <p:cNvSpPr txBox="1"/>
          <p:nvPr/>
        </p:nvSpPr>
        <p:spPr>
          <a:xfrm>
            <a:off x="4475622" y="845039"/>
            <a:ext cx="468630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vCenter</a:t>
            </a:r>
          </a:p>
        </p:txBody>
      </p:sp>
    </p:spTree>
    <p:extLst>
      <p:ext uri="{BB962C8B-B14F-4D97-AF65-F5344CB8AC3E}">
        <p14:creationId xmlns:p14="http://schemas.microsoft.com/office/powerpoint/2010/main" val="50829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3" grpId="0"/>
      <p:bldP spid="13" grpId="1"/>
      <p:bldP spid="15" grpId="0"/>
      <p:bldP spid="15" grpId="1"/>
      <p:bldP spid="18" grpId="0"/>
      <p:bldP spid="18"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59EAA2D-2472-FAA3-EE0E-D25FAFFA18BC}"/>
              </a:ext>
            </a:extLst>
          </p:cNvPr>
          <p:cNvSpPr>
            <a:spLocks noGrp="1"/>
          </p:cNvSpPr>
          <p:nvPr>
            <p:ph type="title"/>
          </p:nvPr>
        </p:nvSpPr>
        <p:spPr>
          <a:xfrm>
            <a:off x="2110020" y="1844610"/>
            <a:ext cx="4923960" cy="1347600"/>
          </a:xfrm>
        </p:spPr>
        <p:txBody>
          <a:bodyPr/>
          <a:lstStyle/>
          <a:p>
            <a:r>
              <a:rPr lang="en-US" sz="9600" b="1" dirty="0" err="1">
                <a:latin typeface="Times New Roman" panose="02020603050405020304" pitchFamily="18" charset="0"/>
                <a:cs typeface="Times New Roman" panose="02020603050405020304" pitchFamily="18" charset="0"/>
              </a:rPr>
              <a:t>Cảm</a:t>
            </a:r>
            <a:r>
              <a:rPr lang="en-US" sz="9600" b="1" dirty="0">
                <a:latin typeface="Times New Roman" panose="02020603050405020304" pitchFamily="18" charset="0"/>
                <a:cs typeface="Times New Roman" panose="02020603050405020304" pitchFamily="18" charset="0"/>
              </a:rPr>
              <a:t> </a:t>
            </a:r>
            <a:r>
              <a:rPr lang="en-US" sz="9600" b="1" dirty="0" err="1">
                <a:latin typeface="Times New Roman" panose="02020603050405020304" pitchFamily="18" charset="0"/>
                <a:cs typeface="Times New Roman" panose="02020603050405020304" pitchFamily="18" charset="0"/>
              </a:rPr>
              <a:t>ơn</a:t>
            </a:r>
            <a:r>
              <a:rPr lang="en-US" sz="9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35659587"/>
      </p:ext>
    </p:extLst>
  </p:cSld>
  <p:clrMapOvr>
    <a:masterClrMapping/>
  </p:clrMapOvr>
</p:sld>
</file>

<file path=ppt/theme/theme1.xml><?xml version="1.0" encoding="utf-8"?>
<a:theme xmlns:a="http://schemas.openxmlformats.org/drawingml/2006/main" name="Virtual office meeting by Slidesgo">
  <a:themeElements>
    <a:clrScheme name="Simple Light">
      <a:dk1>
        <a:srgbClr val="313445"/>
      </a:dk1>
      <a:lt1>
        <a:srgbClr val="FFFFFF"/>
      </a:lt1>
      <a:dk2>
        <a:srgbClr val="545E66"/>
      </a:dk2>
      <a:lt2>
        <a:srgbClr val="F0F3F4"/>
      </a:lt2>
      <a:accent1>
        <a:srgbClr val="623A6C"/>
      </a:accent1>
      <a:accent2>
        <a:srgbClr val="545E66"/>
      </a:accent2>
      <a:accent3>
        <a:srgbClr val="879EAF"/>
      </a:accent3>
      <a:accent4>
        <a:srgbClr val="E79C82"/>
      </a:accent4>
      <a:accent5>
        <a:srgbClr val="E06F85"/>
      </a:accent5>
      <a:accent6>
        <a:srgbClr val="B04C7A"/>
      </a:accent6>
      <a:hlink>
        <a:srgbClr val="545E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1273</TotalTime>
  <Words>5155</Words>
  <Application>Microsoft Office PowerPoint</Application>
  <PresentationFormat>On-screen Show (16:9)</PresentationFormat>
  <Paragraphs>268</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Source Code Pro Black</vt:lpstr>
      <vt:lpstr>Wingdings</vt:lpstr>
      <vt:lpstr>Roboto</vt:lpstr>
      <vt:lpstr>Arial</vt:lpstr>
      <vt:lpstr>Times New Roman</vt:lpstr>
      <vt:lpstr>ui-sans-serif</vt:lpstr>
      <vt:lpstr>Symbol</vt:lpstr>
      <vt:lpstr>Söhne</vt:lpstr>
      <vt:lpstr>Virtual office meeting by Slidesgo</vt:lpstr>
      <vt:lpstr>ỨNG DỤNG ẢO HÓA TRIỂN KHAI HỆ THỐNG SERVER CÔNG TY XÂY DỰNG</vt:lpstr>
      <vt:lpstr>Thực trạng Hạ tầng Vật lý Trung tâm Dữ liệu</vt:lpstr>
      <vt:lpstr>Yêu cầu</vt:lpstr>
      <vt:lpstr>Mục tiêu và giải pháp</vt:lpstr>
      <vt:lpstr>Lợi ích khi sử dụng máy ảo</vt:lpstr>
      <vt:lpstr>Xây dựng mô hình</vt:lpstr>
      <vt:lpstr>Xây dựng mô hình </vt:lpstr>
      <vt:lpstr>Xây dựng mô hình – ESXi</vt:lpstr>
      <vt:lpstr>Xây dựng mô hình – vCenter</vt:lpstr>
      <vt:lpstr>Tính năng nổi bật của vSphere</vt:lpstr>
      <vt:lpstr>Tính năng nổi bật của vSphere</vt:lpstr>
      <vt:lpstr>Tính năng nổi bật của vSphere</vt:lpstr>
      <vt:lpstr>Veeam backup &amp; replication</vt:lpstr>
      <vt:lpstr>Kết quả đạt được</vt:lpstr>
      <vt:lpstr>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ảo hóa doanh nghiệp</dc:title>
  <dc:creator>Nguyen Thanh Tung</dc:creator>
  <cp:lastModifiedBy>Nguyen Thanh Tung</cp:lastModifiedBy>
  <cp:revision>17</cp:revision>
  <dcterms:modified xsi:type="dcterms:W3CDTF">2024-05-23T07:25:13Z</dcterms:modified>
</cp:coreProperties>
</file>